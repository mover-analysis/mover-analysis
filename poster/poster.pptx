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sldIdLst>
    <p:sldId id="256" r:id="rId2"/>
  </p:sldIdLst>
  <p:sldSz cx="43891200" cy="3291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11667"/>
    <p:restoredTop sz="94646"/>
  </p:normalViewPr>
  <p:slideViewPr>
    <p:cSldViewPr snapToGrid="0">
      <p:cViewPr>
        <p:scale>
          <a:sx n="64" d="100"/>
          <a:sy n="64" d="100"/>
        </p:scale>
        <p:origin x="-4304" y="-17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840" y="5387342"/>
            <a:ext cx="37307520" cy="11460480"/>
          </a:xfrm>
        </p:spPr>
        <p:txBody>
          <a:bodyPr anchor="b"/>
          <a:lstStyle>
            <a:lvl1pPr algn="ctr">
              <a:defRPr sz="28800"/>
            </a:lvl1pPr>
          </a:lstStyle>
          <a:p>
            <a:r>
              <a:rPr lang="en-US"/>
              <a:t>Click to edit Master title style</a:t>
            </a:r>
            <a:endParaRPr lang="en-US" dirty="0"/>
          </a:p>
        </p:txBody>
      </p:sp>
      <p:sp>
        <p:nvSpPr>
          <p:cNvPr id="3" name="Subtitle 2"/>
          <p:cNvSpPr>
            <a:spLocks noGrp="1"/>
          </p:cNvSpPr>
          <p:nvPr>
            <p:ph type="subTitle" idx="1"/>
          </p:nvPr>
        </p:nvSpPr>
        <p:spPr>
          <a:xfrm>
            <a:off x="5486400" y="17289782"/>
            <a:ext cx="32918400" cy="7947658"/>
          </a:xfrm>
        </p:spPr>
        <p:txBody>
          <a:bodyPr/>
          <a:lstStyle>
            <a:lvl1pPr marL="0" indent="0" algn="ctr">
              <a:buNone/>
              <a:defRPr sz="11520"/>
            </a:lvl1pPr>
            <a:lvl2pPr marL="2194560" indent="0" algn="ctr">
              <a:buNone/>
              <a:defRPr sz="9600"/>
            </a:lvl2pPr>
            <a:lvl3pPr marL="4389120" indent="0" algn="ctr">
              <a:buNone/>
              <a:defRPr sz="8640"/>
            </a:lvl3pPr>
            <a:lvl4pPr marL="6583680" indent="0" algn="ctr">
              <a:buNone/>
              <a:defRPr sz="7680"/>
            </a:lvl4pPr>
            <a:lvl5pPr marL="8778240" indent="0" algn="ctr">
              <a:buNone/>
              <a:defRPr sz="7680"/>
            </a:lvl5pPr>
            <a:lvl6pPr marL="10972800" indent="0" algn="ctr">
              <a:buNone/>
              <a:defRPr sz="7680"/>
            </a:lvl6pPr>
            <a:lvl7pPr marL="13167360" indent="0" algn="ctr">
              <a:buNone/>
              <a:defRPr sz="7680"/>
            </a:lvl7pPr>
            <a:lvl8pPr marL="15361920" indent="0" algn="ctr">
              <a:buNone/>
              <a:defRPr sz="7680"/>
            </a:lvl8pPr>
            <a:lvl9pPr marL="17556480" indent="0" algn="ctr">
              <a:buNone/>
              <a:defRPr sz="76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1C993A5-351A-0C44-BFB9-E82F4DAB1F4D}" type="datetimeFigureOut">
              <a:rPr lang="en-US" smtClean="0"/>
              <a:t>4/7/26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326DBA-4073-E64F-90F9-A85A33B269AF}" type="slidenum">
              <a:rPr lang="en-US" smtClean="0"/>
              <a:t>‹#›</a:t>
            </a:fld>
            <a:endParaRPr lang="en-US"/>
          </a:p>
        </p:txBody>
      </p:sp>
    </p:spTree>
    <p:extLst>
      <p:ext uri="{BB962C8B-B14F-4D97-AF65-F5344CB8AC3E}">
        <p14:creationId xmlns:p14="http://schemas.microsoft.com/office/powerpoint/2010/main" val="41013236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1C993A5-351A-0C44-BFB9-E82F4DAB1F4D}" type="datetimeFigureOut">
              <a:rPr lang="en-US" smtClean="0"/>
              <a:t>4/7/26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326DBA-4073-E64F-90F9-A85A33B269AF}" type="slidenum">
              <a:rPr lang="en-US" smtClean="0"/>
              <a:t>‹#›</a:t>
            </a:fld>
            <a:endParaRPr lang="en-US"/>
          </a:p>
        </p:txBody>
      </p:sp>
    </p:spTree>
    <p:extLst>
      <p:ext uri="{BB962C8B-B14F-4D97-AF65-F5344CB8AC3E}">
        <p14:creationId xmlns:p14="http://schemas.microsoft.com/office/powerpoint/2010/main" val="21881036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94662" y="8206749"/>
            <a:ext cx="37856160" cy="13693138"/>
          </a:xfrm>
        </p:spPr>
        <p:txBody>
          <a:bodyPr anchor="b"/>
          <a:lstStyle>
            <a:lvl1pPr>
              <a:defRPr sz="28800"/>
            </a:lvl1pPr>
          </a:lstStyle>
          <a:p>
            <a:r>
              <a:rPr lang="en-US"/>
              <a:t>Click to edit Master title style</a:t>
            </a:r>
            <a:endParaRPr lang="en-US" dirty="0"/>
          </a:p>
        </p:txBody>
      </p:sp>
      <p:sp>
        <p:nvSpPr>
          <p:cNvPr id="3" name="Text Placeholder 2"/>
          <p:cNvSpPr>
            <a:spLocks noGrp="1"/>
          </p:cNvSpPr>
          <p:nvPr>
            <p:ph type="body" idx="1"/>
          </p:nvPr>
        </p:nvSpPr>
        <p:spPr>
          <a:xfrm>
            <a:off x="2994662" y="22029429"/>
            <a:ext cx="37856160" cy="7200898"/>
          </a:xfrm>
        </p:spPr>
        <p:txBody>
          <a:bodyPr/>
          <a:lstStyle>
            <a:lvl1pPr marL="0" indent="0">
              <a:buNone/>
              <a:defRPr sz="11520">
                <a:solidFill>
                  <a:schemeClr val="tx1">
                    <a:tint val="82000"/>
                  </a:schemeClr>
                </a:solidFill>
              </a:defRPr>
            </a:lvl1pPr>
            <a:lvl2pPr marL="2194560" indent="0">
              <a:buNone/>
              <a:defRPr sz="9600">
                <a:solidFill>
                  <a:schemeClr val="tx1">
                    <a:tint val="82000"/>
                  </a:schemeClr>
                </a:solidFill>
              </a:defRPr>
            </a:lvl2pPr>
            <a:lvl3pPr marL="4389120" indent="0">
              <a:buNone/>
              <a:defRPr sz="8640">
                <a:solidFill>
                  <a:schemeClr val="tx1">
                    <a:tint val="82000"/>
                  </a:schemeClr>
                </a:solidFill>
              </a:defRPr>
            </a:lvl3pPr>
            <a:lvl4pPr marL="6583680" indent="0">
              <a:buNone/>
              <a:defRPr sz="7680">
                <a:solidFill>
                  <a:schemeClr val="tx1">
                    <a:tint val="82000"/>
                  </a:schemeClr>
                </a:solidFill>
              </a:defRPr>
            </a:lvl4pPr>
            <a:lvl5pPr marL="8778240" indent="0">
              <a:buNone/>
              <a:defRPr sz="7680">
                <a:solidFill>
                  <a:schemeClr val="tx1">
                    <a:tint val="82000"/>
                  </a:schemeClr>
                </a:solidFill>
              </a:defRPr>
            </a:lvl5pPr>
            <a:lvl6pPr marL="10972800" indent="0">
              <a:buNone/>
              <a:defRPr sz="7680">
                <a:solidFill>
                  <a:schemeClr val="tx1">
                    <a:tint val="82000"/>
                  </a:schemeClr>
                </a:solidFill>
              </a:defRPr>
            </a:lvl6pPr>
            <a:lvl7pPr marL="13167360" indent="0">
              <a:buNone/>
              <a:defRPr sz="7680">
                <a:solidFill>
                  <a:schemeClr val="tx1">
                    <a:tint val="82000"/>
                  </a:schemeClr>
                </a:solidFill>
              </a:defRPr>
            </a:lvl7pPr>
            <a:lvl8pPr marL="15361920" indent="0">
              <a:buNone/>
              <a:defRPr sz="7680">
                <a:solidFill>
                  <a:schemeClr val="tx1">
                    <a:tint val="82000"/>
                  </a:schemeClr>
                </a:solidFill>
              </a:defRPr>
            </a:lvl8pPr>
            <a:lvl9pPr marL="17556480" indent="0">
              <a:buNone/>
              <a:defRPr sz="768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1C993A5-351A-0C44-BFB9-E82F4DAB1F4D}" type="datetimeFigureOut">
              <a:rPr lang="en-US" smtClean="0"/>
              <a:t>4/7/26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326DBA-4073-E64F-90F9-A85A33B269AF}" type="slidenum">
              <a:rPr lang="en-US" smtClean="0"/>
              <a:t>‹#›</a:t>
            </a:fld>
            <a:endParaRPr lang="en-US"/>
          </a:p>
        </p:txBody>
      </p:sp>
    </p:spTree>
    <p:extLst>
      <p:ext uri="{BB962C8B-B14F-4D97-AF65-F5344CB8AC3E}">
        <p14:creationId xmlns:p14="http://schemas.microsoft.com/office/powerpoint/2010/main" val="8205807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0175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22199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1C993A5-351A-0C44-BFB9-E82F4DAB1F4D}" type="datetimeFigureOut">
              <a:rPr lang="en-US" smtClean="0"/>
              <a:t>4/7/26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326DBA-4073-E64F-90F9-A85A33B269AF}" type="slidenum">
              <a:rPr lang="en-US" smtClean="0"/>
              <a:t>‹#›</a:t>
            </a:fld>
            <a:endParaRPr lang="en-US"/>
          </a:p>
        </p:txBody>
      </p:sp>
    </p:spTree>
    <p:extLst>
      <p:ext uri="{BB962C8B-B14F-4D97-AF65-F5344CB8AC3E}">
        <p14:creationId xmlns:p14="http://schemas.microsoft.com/office/powerpoint/2010/main" val="18673937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023237" y="1752607"/>
            <a:ext cx="37856160" cy="6362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3023242" y="8069582"/>
            <a:ext cx="18568032"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4" name="Content Placeholder 3"/>
          <p:cNvSpPr>
            <a:spLocks noGrp="1"/>
          </p:cNvSpPr>
          <p:nvPr>
            <p:ph sz="half" idx="2"/>
          </p:nvPr>
        </p:nvSpPr>
        <p:spPr>
          <a:xfrm>
            <a:off x="3023242" y="12024360"/>
            <a:ext cx="18568032"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2219922" y="8069582"/>
            <a:ext cx="18659477"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6" name="Content Placeholder 5"/>
          <p:cNvSpPr>
            <a:spLocks noGrp="1"/>
          </p:cNvSpPr>
          <p:nvPr>
            <p:ph sz="quarter" idx="4"/>
          </p:nvPr>
        </p:nvSpPr>
        <p:spPr>
          <a:xfrm>
            <a:off x="22219922" y="12024360"/>
            <a:ext cx="18659477"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1C993A5-351A-0C44-BFB9-E82F4DAB1F4D}" type="datetimeFigureOut">
              <a:rPr lang="en-US" smtClean="0"/>
              <a:t>4/7/26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4326DBA-4073-E64F-90F9-A85A33B269AF}" type="slidenum">
              <a:rPr lang="en-US" smtClean="0"/>
              <a:t>‹#›</a:t>
            </a:fld>
            <a:endParaRPr lang="en-US"/>
          </a:p>
        </p:txBody>
      </p:sp>
    </p:spTree>
    <p:extLst>
      <p:ext uri="{BB962C8B-B14F-4D97-AF65-F5344CB8AC3E}">
        <p14:creationId xmlns:p14="http://schemas.microsoft.com/office/powerpoint/2010/main" val="22589031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1C993A5-351A-0C44-BFB9-E82F4DAB1F4D}" type="datetimeFigureOut">
              <a:rPr lang="en-US" smtClean="0"/>
              <a:t>4/7/26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4326DBA-4073-E64F-90F9-A85A33B269AF}" type="slidenum">
              <a:rPr lang="en-US" smtClean="0"/>
              <a:t>‹#›</a:t>
            </a:fld>
            <a:endParaRPr lang="en-US"/>
          </a:p>
        </p:txBody>
      </p:sp>
    </p:spTree>
    <p:extLst>
      <p:ext uri="{BB962C8B-B14F-4D97-AF65-F5344CB8AC3E}">
        <p14:creationId xmlns:p14="http://schemas.microsoft.com/office/powerpoint/2010/main" val="21753837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1C993A5-351A-0C44-BFB9-E82F4DAB1F4D}" type="datetimeFigureOut">
              <a:rPr lang="en-US" smtClean="0"/>
              <a:t>4/7/26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4326DBA-4073-E64F-90F9-A85A33B269AF}" type="slidenum">
              <a:rPr lang="en-US" smtClean="0"/>
              <a:t>‹#›</a:t>
            </a:fld>
            <a:endParaRPr lang="en-US"/>
          </a:p>
        </p:txBody>
      </p:sp>
    </p:spTree>
    <p:extLst>
      <p:ext uri="{BB962C8B-B14F-4D97-AF65-F5344CB8AC3E}">
        <p14:creationId xmlns:p14="http://schemas.microsoft.com/office/powerpoint/2010/main" val="18450387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Content Placeholder 2"/>
          <p:cNvSpPr>
            <a:spLocks noGrp="1"/>
          </p:cNvSpPr>
          <p:nvPr>
            <p:ph idx="1"/>
          </p:nvPr>
        </p:nvSpPr>
        <p:spPr>
          <a:xfrm>
            <a:off x="18659477" y="4739647"/>
            <a:ext cx="22219920" cy="23393400"/>
          </a:xfrm>
        </p:spPr>
        <p:txBody>
          <a:bodyPr/>
          <a:lstStyle>
            <a:lvl1pPr>
              <a:defRPr sz="15360"/>
            </a:lvl1pPr>
            <a:lvl2pPr>
              <a:defRPr sz="13440"/>
            </a:lvl2pPr>
            <a:lvl3pPr>
              <a:defRPr sz="11520"/>
            </a:lvl3pPr>
            <a:lvl4pPr>
              <a:defRPr sz="9600"/>
            </a:lvl4pPr>
            <a:lvl5pPr>
              <a:defRPr sz="9600"/>
            </a:lvl5pPr>
            <a:lvl6pPr>
              <a:defRPr sz="9600"/>
            </a:lvl6pPr>
            <a:lvl7pPr>
              <a:defRPr sz="9600"/>
            </a:lvl7pPr>
            <a:lvl8pPr>
              <a:defRPr sz="9600"/>
            </a:lvl8pPr>
            <a:lvl9pPr>
              <a:defRPr sz="9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91C993A5-351A-0C44-BFB9-E82F4DAB1F4D}" type="datetimeFigureOut">
              <a:rPr lang="en-US" smtClean="0"/>
              <a:t>4/7/26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326DBA-4073-E64F-90F9-A85A33B269AF}" type="slidenum">
              <a:rPr lang="en-US" smtClean="0"/>
              <a:t>‹#›</a:t>
            </a:fld>
            <a:endParaRPr lang="en-US"/>
          </a:p>
        </p:txBody>
      </p:sp>
    </p:spTree>
    <p:extLst>
      <p:ext uri="{BB962C8B-B14F-4D97-AF65-F5344CB8AC3E}">
        <p14:creationId xmlns:p14="http://schemas.microsoft.com/office/powerpoint/2010/main" val="18662392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Picture Placeholder 2"/>
          <p:cNvSpPr>
            <a:spLocks noGrp="1" noChangeAspect="1"/>
          </p:cNvSpPr>
          <p:nvPr>
            <p:ph type="pic" idx="1"/>
          </p:nvPr>
        </p:nvSpPr>
        <p:spPr>
          <a:xfrm>
            <a:off x="18659477" y="4739647"/>
            <a:ext cx="22219920" cy="23393400"/>
          </a:xfrm>
        </p:spPr>
        <p:txBody>
          <a:bodyPr anchor="t"/>
          <a:lstStyle>
            <a:lvl1pPr marL="0" indent="0">
              <a:buNone/>
              <a:defRPr sz="15360"/>
            </a:lvl1pPr>
            <a:lvl2pPr marL="2194560" indent="0">
              <a:buNone/>
              <a:defRPr sz="13440"/>
            </a:lvl2pPr>
            <a:lvl3pPr marL="4389120" indent="0">
              <a:buNone/>
              <a:defRPr sz="1152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r>
              <a:rPr lang="en-US"/>
              <a:t>Click icon to add picture</a:t>
            </a:r>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91C993A5-351A-0C44-BFB9-E82F4DAB1F4D}" type="datetimeFigureOut">
              <a:rPr lang="en-US" smtClean="0"/>
              <a:t>4/7/26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326DBA-4073-E64F-90F9-A85A33B269AF}" type="slidenum">
              <a:rPr lang="en-US" smtClean="0"/>
              <a:t>‹#›</a:t>
            </a:fld>
            <a:endParaRPr lang="en-US"/>
          </a:p>
        </p:txBody>
      </p:sp>
    </p:spTree>
    <p:extLst>
      <p:ext uri="{BB962C8B-B14F-4D97-AF65-F5344CB8AC3E}">
        <p14:creationId xmlns:p14="http://schemas.microsoft.com/office/powerpoint/2010/main" val="40978469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1C993A5-351A-0C44-BFB9-E82F4DAB1F4D}" type="datetimeFigureOut">
              <a:rPr lang="en-US" smtClean="0"/>
              <a:t>4/7/26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326DBA-4073-E64F-90F9-A85A33B269AF}" type="slidenum">
              <a:rPr lang="en-US" smtClean="0"/>
              <a:t>‹#›</a:t>
            </a:fld>
            <a:endParaRPr lang="en-US"/>
          </a:p>
        </p:txBody>
      </p:sp>
    </p:spTree>
    <p:extLst>
      <p:ext uri="{BB962C8B-B14F-4D97-AF65-F5344CB8AC3E}">
        <p14:creationId xmlns:p14="http://schemas.microsoft.com/office/powerpoint/2010/main" val="273966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409642" y="1752600"/>
            <a:ext cx="9464040" cy="2789682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017522" y="1752600"/>
            <a:ext cx="27843480" cy="278968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1C993A5-351A-0C44-BFB9-E82F4DAB1F4D}" type="datetimeFigureOut">
              <a:rPr lang="en-US" smtClean="0"/>
              <a:t>4/7/26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326DBA-4073-E64F-90F9-A85A33B269AF}" type="slidenum">
              <a:rPr lang="en-US" smtClean="0"/>
              <a:t>‹#›</a:t>
            </a:fld>
            <a:endParaRPr lang="en-US"/>
          </a:p>
        </p:txBody>
      </p:sp>
    </p:spTree>
    <p:extLst>
      <p:ext uri="{BB962C8B-B14F-4D97-AF65-F5344CB8AC3E}">
        <p14:creationId xmlns:p14="http://schemas.microsoft.com/office/powerpoint/2010/main" val="10798911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17520" y="1752607"/>
            <a:ext cx="37856160" cy="6362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017520" y="8763000"/>
            <a:ext cx="37856160" cy="208864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017520" y="30510487"/>
            <a:ext cx="9875520" cy="1752600"/>
          </a:xfrm>
          <a:prstGeom prst="rect">
            <a:avLst/>
          </a:prstGeom>
        </p:spPr>
        <p:txBody>
          <a:bodyPr vert="horz" lIns="91440" tIns="45720" rIns="91440" bIns="45720" rtlCol="0" anchor="ctr"/>
          <a:lstStyle>
            <a:lvl1pPr algn="l">
              <a:defRPr sz="5760">
                <a:solidFill>
                  <a:schemeClr val="tx1">
                    <a:tint val="82000"/>
                  </a:schemeClr>
                </a:solidFill>
              </a:defRPr>
            </a:lvl1pPr>
          </a:lstStyle>
          <a:p>
            <a:fld id="{91C993A5-351A-0C44-BFB9-E82F4DAB1F4D}" type="datetimeFigureOut">
              <a:rPr lang="en-US" smtClean="0"/>
              <a:t>4/7/26</a:t>
            </a:fld>
            <a:endParaRPr lang="en-US"/>
          </a:p>
        </p:txBody>
      </p:sp>
      <p:sp>
        <p:nvSpPr>
          <p:cNvPr id="5" name="Footer Placeholder 4"/>
          <p:cNvSpPr>
            <a:spLocks noGrp="1"/>
          </p:cNvSpPr>
          <p:nvPr>
            <p:ph type="ftr" sz="quarter" idx="3"/>
          </p:nvPr>
        </p:nvSpPr>
        <p:spPr>
          <a:xfrm>
            <a:off x="14538960" y="30510487"/>
            <a:ext cx="14813280" cy="1752600"/>
          </a:xfrm>
          <a:prstGeom prst="rect">
            <a:avLst/>
          </a:prstGeom>
        </p:spPr>
        <p:txBody>
          <a:bodyPr vert="horz" lIns="91440" tIns="45720" rIns="91440" bIns="45720" rtlCol="0" anchor="ctr"/>
          <a:lstStyle>
            <a:lvl1pPr algn="ctr">
              <a:defRPr sz="576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30998160" y="30510487"/>
            <a:ext cx="9875520" cy="1752600"/>
          </a:xfrm>
          <a:prstGeom prst="rect">
            <a:avLst/>
          </a:prstGeom>
        </p:spPr>
        <p:txBody>
          <a:bodyPr vert="horz" lIns="91440" tIns="45720" rIns="91440" bIns="45720" rtlCol="0" anchor="ctr"/>
          <a:lstStyle>
            <a:lvl1pPr algn="r">
              <a:defRPr sz="5760">
                <a:solidFill>
                  <a:schemeClr val="tx1">
                    <a:tint val="82000"/>
                  </a:schemeClr>
                </a:solidFill>
              </a:defRPr>
            </a:lvl1pPr>
          </a:lstStyle>
          <a:p>
            <a:fld id="{64326DBA-4073-E64F-90F9-A85A33B269AF}" type="slidenum">
              <a:rPr lang="en-US" smtClean="0"/>
              <a:t>‹#›</a:t>
            </a:fld>
            <a:endParaRPr lang="en-US"/>
          </a:p>
        </p:txBody>
      </p:sp>
    </p:spTree>
    <p:extLst>
      <p:ext uri="{BB962C8B-B14F-4D97-AF65-F5344CB8AC3E}">
        <p14:creationId xmlns:p14="http://schemas.microsoft.com/office/powerpoint/2010/main" val="387765337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389120" rtl="0" eaLnBrk="1" latinLnBrk="0" hangingPunct="1">
        <a:lnSpc>
          <a:spcPct val="90000"/>
        </a:lnSpc>
        <a:spcBef>
          <a:spcPct val="0"/>
        </a:spcBef>
        <a:buNone/>
        <a:defRPr sz="21120" kern="1200">
          <a:solidFill>
            <a:schemeClr val="tx1"/>
          </a:solidFill>
          <a:latin typeface="+mj-lt"/>
          <a:ea typeface="+mj-ea"/>
          <a:cs typeface="+mj-cs"/>
        </a:defRPr>
      </a:lvl1pPr>
    </p:titleStyle>
    <p:bodyStyle>
      <a:lvl1pPr marL="1097280" indent="-1097280" algn="l" defTabSz="4389120" rtl="0" eaLnBrk="1" latinLnBrk="0" hangingPunct="1">
        <a:lnSpc>
          <a:spcPct val="90000"/>
        </a:lnSpc>
        <a:spcBef>
          <a:spcPts val="4800"/>
        </a:spcBef>
        <a:buFont typeface="Arial" panose="020B0604020202020204" pitchFamily="34" charset="0"/>
        <a:buChar char="•"/>
        <a:defRPr sz="13440" kern="1200">
          <a:solidFill>
            <a:schemeClr val="tx1"/>
          </a:solidFill>
          <a:latin typeface="+mn-lt"/>
          <a:ea typeface="+mn-ea"/>
          <a:cs typeface="+mn-cs"/>
        </a:defRPr>
      </a:lvl1pPr>
      <a:lvl2pPr marL="3291840" indent="-1097280" algn="l" defTabSz="4389120" rtl="0" eaLnBrk="1" latinLnBrk="0" hangingPunct="1">
        <a:lnSpc>
          <a:spcPct val="90000"/>
        </a:lnSpc>
        <a:spcBef>
          <a:spcPts val="2400"/>
        </a:spcBef>
        <a:buFont typeface="Arial" panose="020B0604020202020204" pitchFamily="34" charset="0"/>
        <a:buChar char="•"/>
        <a:defRPr sz="11520" kern="1200">
          <a:solidFill>
            <a:schemeClr val="tx1"/>
          </a:solidFill>
          <a:latin typeface="+mn-lt"/>
          <a:ea typeface="+mn-ea"/>
          <a:cs typeface="+mn-cs"/>
        </a:defRPr>
      </a:lvl2pPr>
      <a:lvl3pPr marL="5486400" indent="-1097280" algn="l" defTabSz="4389120" rtl="0" eaLnBrk="1" latinLnBrk="0" hangingPunct="1">
        <a:lnSpc>
          <a:spcPct val="90000"/>
        </a:lnSpc>
        <a:spcBef>
          <a:spcPts val="2400"/>
        </a:spcBef>
        <a:buFont typeface="Arial" panose="020B0604020202020204" pitchFamily="34" charset="0"/>
        <a:buChar char="•"/>
        <a:defRPr sz="9600" kern="1200">
          <a:solidFill>
            <a:schemeClr val="tx1"/>
          </a:solidFill>
          <a:latin typeface="+mn-lt"/>
          <a:ea typeface="+mn-ea"/>
          <a:cs typeface="+mn-cs"/>
        </a:defRPr>
      </a:lvl3pPr>
      <a:lvl4pPr marL="76809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4pPr>
      <a:lvl5pPr marL="987552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5pPr>
      <a:lvl6pPr marL="1207008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6pPr>
      <a:lvl7pPr marL="1426464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7pPr>
      <a:lvl8pPr marL="1645920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8pPr>
      <a:lvl9pPr marL="186537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9pPr>
    </p:bodyStyle>
    <p:other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5B43CF-0677-170A-7B9A-322A7772D946}"/>
              </a:ext>
            </a:extLst>
          </p:cNvPr>
          <p:cNvSpPr/>
          <p:nvPr/>
        </p:nvSpPr>
        <p:spPr>
          <a:xfrm>
            <a:off x="0" y="0"/>
            <a:ext cx="43891200" cy="31699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b="1" dirty="0">
                <a:solidFill>
                  <a:schemeClr val="bg1"/>
                </a:solidFill>
              </a:rPr>
              <a:t>Investigating Postoperative Hypoxemia Using the Medical Informatics Operating Room Vitals and Events Repository (MOVER)</a:t>
            </a:r>
          </a:p>
          <a:p>
            <a:pPr algn="ctr"/>
            <a:r>
              <a:rPr lang="en-US" sz="5400" b="1" dirty="0">
                <a:solidFill>
                  <a:schemeClr val="bg1"/>
                </a:solidFill>
              </a:rPr>
              <a:t>Authors</a:t>
            </a:r>
            <a:r>
              <a:rPr lang="en-US" sz="5400" b="1" baseline="30000" dirty="0">
                <a:solidFill>
                  <a:schemeClr val="bg1"/>
                </a:solidFill>
              </a:rPr>
              <a:t>1</a:t>
            </a:r>
          </a:p>
          <a:p>
            <a:pPr algn="ctr"/>
            <a:r>
              <a:rPr lang="en-US" sz="5400" b="1" baseline="30000" dirty="0">
                <a:solidFill>
                  <a:schemeClr val="bg1"/>
                </a:solidFill>
              </a:rPr>
              <a:t>1</a:t>
            </a:r>
            <a:r>
              <a:rPr lang="en-US" sz="5400" b="1" dirty="0">
                <a:solidFill>
                  <a:schemeClr val="bg1"/>
                </a:solidFill>
              </a:rPr>
              <a:t>Dalla Lana School of Public Health, Biostatistics Division, University of Toronto, Toronto, Canada</a:t>
            </a:r>
          </a:p>
        </p:txBody>
      </p:sp>
      <p:sp>
        <p:nvSpPr>
          <p:cNvPr id="5" name="Rectangle 4">
            <a:extLst>
              <a:ext uri="{FF2B5EF4-FFF2-40B4-BE49-F238E27FC236}">
                <a16:creationId xmlns:a16="http://schemas.microsoft.com/office/drawing/2014/main" id="{A68FF29C-A11A-8F0B-DB24-0BD532AA4ED9}"/>
              </a:ext>
            </a:extLst>
          </p:cNvPr>
          <p:cNvSpPr/>
          <p:nvPr/>
        </p:nvSpPr>
        <p:spPr>
          <a:xfrm>
            <a:off x="0" y="3688080"/>
            <a:ext cx="11765280" cy="1859280"/>
          </a:xfrm>
          <a:prstGeom prst="rect">
            <a:avLst/>
          </a:prstGeom>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bg1"/>
                </a:solidFill>
              </a:rPr>
              <a:t>Abstract</a:t>
            </a:r>
          </a:p>
        </p:txBody>
      </p:sp>
      <p:sp>
        <p:nvSpPr>
          <p:cNvPr id="6" name="Rectangle 5">
            <a:extLst>
              <a:ext uri="{FF2B5EF4-FFF2-40B4-BE49-F238E27FC236}">
                <a16:creationId xmlns:a16="http://schemas.microsoft.com/office/drawing/2014/main" id="{1EE339CE-AE4C-79CA-FC15-D4765201822D}"/>
              </a:ext>
            </a:extLst>
          </p:cNvPr>
          <p:cNvSpPr/>
          <p:nvPr/>
        </p:nvSpPr>
        <p:spPr>
          <a:xfrm>
            <a:off x="0" y="5547360"/>
            <a:ext cx="11765280" cy="5913120"/>
          </a:xfrm>
          <a:prstGeom prst="rect">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400" b="1" dirty="0">
              <a:solidFill>
                <a:schemeClr val="bg1"/>
              </a:solidFill>
            </a:endParaRPr>
          </a:p>
        </p:txBody>
      </p:sp>
      <p:sp>
        <p:nvSpPr>
          <p:cNvPr id="7" name="Rectangle 6">
            <a:extLst>
              <a:ext uri="{FF2B5EF4-FFF2-40B4-BE49-F238E27FC236}">
                <a16:creationId xmlns:a16="http://schemas.microsoft.com/office/drawing/2014/main" id="{98DFB418-5C94-A0D6-0044-2EA99F46E538}"/>
              </a:ext>
            </a:extLst>
          </p:cNvPr>
          <p:cNvSpPr/>
          <p:nvPr/>
        </p:nvSpPr>
        <p:spPr>
          <a:xfrm>
            <a:off x="0" y="12009120"/>
            <a:ext cx="11765280" cy="1859280"/>
          </a:xfrm>
          <a:prstGeom prst="rect">
            <a:avLst/>
          </a:prstGeom>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bg1"/>
                </a:solidFill>
              </a:rPr>
              <a:t>Introduction &amp; Literature Review</a:t>
            </a:r>
          </a:p>
        </p:txBody>
      </p:sp>
      <p:sp>
        <p:nvSpPr>
          <p:cNvPr id="8" name="Rectangle 7">
            <a:extLst>
              <a:ext uri="{FF2B5EF4-FFF2-40B4-BE49-F238E27FC236}">
                <a16:creationId xmlns:a16="http://schemas.microsoft.com/office/drawing/2014/main" id="{E4708671-0CBF-F325-E50C-9D027424808E}"/>
              </a:ext>
            </a:extLst>
          </p:cNvPr>
          <p:cNvSpPr/>
          <p:nvPr/>
        </p:nvSpPr>
        <p:spPr>
          <a:xfrm>
            <a:off x="0" y="13868400"/>
            <a:ext cx="11765280" cy="18562320"/>
          </a:xfrm>
          <a:prstGeom prst="rect">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685800" indent="-685800">
              <a:buFont typeface="Arial" panose="020B0604020202020204" pitchFamily="34" charset="0"/>
              <a:buChar char="•"/>
            </a:pPr>
            <a:r>
              <a:rPr lang="en-US" sz="4600" dirty="0">
                <a:solidFill>
                  <a:schemeClr val="tx1"/>
                </a:solidFill>
              </a:rPr>
              <a:t>Postoperative hypoxemia is a frequent complication from anesthetic</a:t>
            </a:r>
            <a:r>
              <a:rPr lang="en-US" sz="4600" baseline="30000" dirty="0">
                <a:solidFill>
                  <a:schemeClr val="tx1"/>
                </a:solidFill>
              </a:rPr>
              <a:t>1</a:t>
            </a:r>
            <a:br>
              <a:rPr lang="en-US" sz="4600" dirty="0">
                <a:solidFill>
                  <a:schemeClr val="tx1"/>
                </a:solidFill>
              </a:rPr>
            </a:br>
            <a:endParaRPr lang="en-US" sz="4600" dirty="0">
              <a:solidFill>
                <a:schemeClr val="tx1"/>
              </a:solidFill>
            </a:endParaRPr>
          </a:p>
          <a:p>
            <a:pPr marL="685800" indent="-685800">
              <a:buFont typeface="Arial" panose="020B0604020202020204" pitchFamily="34" charset="0"/>
              <a:buChar char="•"/>
            </a:pPr>
            <a:r>
              <a:rPr lang="en-US" sz="4600" dirty="0">
                <a:solidFill>
                  <a:schemeClr val="tx1"/>
                </a:solidFill>
              </a:rPr>
              <a:t>The MOVER EPIC dataset includes records from 64,354 surgeries between 2017 and 2022</a:t>
            </a:r>
            <a:r>
              <a:rPr lang="en-US" sz="4600" baseline="30000" dirty="0">
                <a:solidFill>
                  <a:schemeClr val="tx1"/>
                </a:solidFill>
              </a:rPr>
              <a:t>2</a:t>
            </a:r>
            <a:r>
              <a:rPr lang="en-US" sz="4600" dirty="0">
                <a:solidFill>
                  <a:schemeClr val="tx1"/>
                </a:solidFill>
              </a:rPr>
              <a:t> and can be used to study this issue</a:t>
            </a:r>
            <a:br>
              <a:rPr lang="en-US" sz="4600" dirty="0">
                <a:solidFill>
                  <a:schemeClr val="tx1"/>
                </a:solidFill>
              </a:rPr>
            </a:br>
            <a:endParaRPr lang="en-US" sz="4600" dirty="0">
              <a:solidFill>
                <a:schemeClr val="tx1"/>
              </a:solidFill>
            </a:endParaRPr>
          </a:p>
          <a:p>
            <a:pPr marL="685800" indent="-685800">
              <a:buFont typeface="Arial" panose="020B0604020202020204" pitchFamily="34" charset="0"/>
              <a:buChar char="•"/>
            </a:pPr>
            <a:r>
              <a:rPr lang="en-US" sz="4600" dirty="0">
                <a:solidFill>
                  <a:schemeClr val="tx1"/>
                </a:solidFill>
              </a:rPr>
              <a:t>Prior research has assessed how postoperative hypoxemia is affected by different variables, but these models only contained up to four laboratory test results</a:t>
            </a:r>
            <a:r>
              <a:rPr lang="en-US" sz="4600" baseline="30000" dirty="0">
                <a:solidFill>
                  <a:schemeClr val="tx1"/>
                </a:solidFill>
              </a:rPr>
              <a:t>3,4,5</a:t>
            </a:r>
            <a:br>
              <a:rPr lang="en-US" sz="4600" dirty="0">
                <a:solidFill>
                  <a:schemeClr val="tx1"/>
                </a:solidFill>
              </a:rPr>
            </a:br>
            <a:endParaRPr lang="en-US" sz="4600" dirty="0">
              <a:solidFill>
                <a:schemeClr val="tx1"/>
              </a:solidFill>
            </a:endParaRPr>
          </a:p>
          <a:p>
            <a:pPr marL="685800" indent="-685800">
              <a:buFont typeface="Arial" panose="020B0604020202020204" pitchFamily="34" charset="0"/>
              <a:buChar char="•"/>
            </a:pPr>
            <a:r>
              <a:rPr lang="en-US" sz="4600" dirty="0">
                <a:solidFill>
                  <a:schemeClr val="tx1"/>
                </a:solidFill>
              </a:rPr>
              <a:t>To fill this gap characterized by few laboratory test results, this work modelled postoperative hypoxemia probability using logistic regression with up to ten preoperative laboratory test results and three demographic variables as covariates</a:t>
            </a:r>
            <a:br>
              <a:rPr lang="en-US" sz="4600" dirty="0">
                <a:solidFill>
                  <a:schemeClr val="tx1"/>
                </a:solidFill>
              </a:rPr>
            </a:br>
            <a:endParaRPr lang="en-US" sz="4600" dirty="0">
              <a:solidFill>
                <a:schemeClr val="tx1"/>
              </a:solidFill>
            </a:endParaRPr>
          </a:p>
          <a:p>
            <a:pPr marL="685800" indent="-685800">
              <a:buFont typeface="Arial" panose="020B0604020202020204" pitchFamily="34" charset="0"/>
              <a:buChar char="•"/>
            </a:pPr>
            <a:r>
              <a:rPr lang="en-US" sz="4600" dirty="0">
                <a:solidFill>
                  <a:schemeClr val="tx1"/>
                </a:solidFill>
              </a:rPr>
              <a:t>The objective was to detect significant predictors of postoperative hypoxemia and determine the accuracy of predicting its probability with just these variables</a:t>
            </a:r>
          </a:p>
        </p:txBody>
      </p:sp>
      <p:sp>
        <p:nvSpPr>
          <p:cNvPr id="11" name="Rectangle 10">
            <a:extLst>
              <a:ext uri="{FF2B5EF4-FFF2-40B4-BE49-F238E27FC236}">
                <a16:creationId xmlns:a16="http://schemas.microsoft.com/office/drawing/2014/main" id="{9CC0B919-8020-E8F8-3BDF-3166A97C25E4}"/>
              </a:ext>
            </a:extLst>
          </p:cNvPr>
          <p:cNvSpPr/>
          <p:nvPr/>
        </p:nvSpPr>
        <p:spPr>
          <a:xfrm>
            <a:off x="12405360" y="3688080"/>
            <a:ext cx="19080480" cy="1859280"/>
          </a:xfrm>
          <a:prstGeom prst="rect">
            <a:avLst/>
          </a:prstGeom>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bg1"/>
                </a:solidFill>
              </a:rPr>
              <a:t>Methodology (The Pipeline)</a:t>
            </a:r>
          </a:p>
        </p:txBody>
      </p:sp>
      <p:sp>
        <p:nvSpPr>
          <p:cNvPr id="12" name="Rectangle 11">
            <a:extLst>
              <a:ext uri="{FF2B5EF4-FFF2-40B4-BE49-F238E27FC236}">
                <a16:creationId xmlns:a16="http://schemas.microsoft.com/office/drawing/2014/main" id="{C832F517-8897-94A1-D97E-0D0A5CD490A6}"/>
              </a:ext>
            </a:extLst>
          </p:cNvPr>
          <p:cNvSpPr/>
          <p:nvPr/>
        </p:nvSpPr>
        <p:spPr>
          <a:xfrm>
            <a:off x="12405360" y="5547360"/>
            <a:ext cx="19080480" cy="11308080"/>
          </a:xfrm>
          <a:prstGeom prst="rect">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buFont typeface="Arial" panose="020B0604020202020204" pitchFamily="34" charset="0"/>
              <a:buChar char="•"/>
            </a:pPr>
            <a:endParaRPr lang="en-US" sz="3200" dirty="0">
              <a:solidFill>
                <a:schemeClr val="tx1"/>
              </a:solidFill>
            </a:endParaRPr>
          </a:p>
        </p:txBody>
      </p:sp>
      <p:sp>
        <p:nvSpPr>
          <p:cNvPr id="15" name="Rectangle 14">
            <a:extLst>
              <a:ext uri="{FF2B5EF4-FFF2-40B4-BE49-F238E27FC236}">
                <a16:creationId xmlns:a16="http://schemas.microsoft.com/office/drawing/2014/main" id="{D9FAD4F5-52A9-A8DB-E983-3A4C1D8CFF2D}"/>
              </a:ext>
            </a:extLst>
          </p:cNvPr>
          <p:cNvSpPr/>
          <p:nvPr/>
        </p:nvSpPr>
        <p:spPr>
          <a:xfrm>
            <a:off x="32125920" y="3688080"/>
            <a:ext cx="11765280" cy="1859280"/>
          </a:xfrm>
          <a:prstGeom prst="rect">
            <a:avLst/>
          </a:prstGeom>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bg1"/>
                </a:solidFill>
              </a:rPr>
              <a:t>Conclusion &amp; Impact</a:t>
            </a:r>
          </a:p>
        </p:txBody>
      </p:sp>
      <p:sp>
        <p:nvSpPr>
          <p:cNvPr id="16" name="Rectangle 15">
            <a:extLst>
              <a:ext uri="{FF2B5EF4-FFF2-40B4-BE49-F238E27FC236}">
                <a16:creationId xmlns:a16="http://schemas.microsoft.com/office/drawing/2014/main" id="{39677B4E-44D9-251E-1F7F-7ACC118B2981}"/>
              </a:ext>
            </a:extLst>
          </p:cNvPr>
          <p:cNvSpPr/>
          <p:nvPr/>
        </p:nvSpPr>
        <p:spPr>
          <a:xfrm>
            <a:off x="32125920" y="5547359"/>
            <a:ext cx="11765280" cy="15912465"/>
          </a:xfrm>
          <a:prstGeom prst="rect">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CA" sz="3400" b="1" dirty="0">
                <a:solidFill>
                  <a:schemeClr val="tx1"/>
                </a:solidFill>
              </a:rPr>
              <a:t>Key Takeaway: Male patients with high BMI and high glucose may benefit from closer postoperative monitoring for early detection and timely intervention of hypoxemia.</a:t>
            </a:r>
          </a:p>
          <a:p>
            <a:endParaRPr lang="en-CA" sz="3400" b="1" dirty="0">
              <a:solidFill>
                <a:schemeClr val="tx1"/>
              </a:solidFill>
            </a:endParaRPr>
          </a:p>
          <a:p>
            <a:r>
              <a:rPr lang="en-CA" sz="3400" b="1" dirty="0">
                <a:solidFill>
                  <a:schemeClr val="tx1"/>
                </a:solidFill>
              </a:rPr>
              <a:t>Key Risk Factors</a:t>
            </a:r>
          </a:p>
          <a:p>
            <a:pPr marL="571500" indent="-571500">
              <a:buFont typeface="Arial" panose="020B0604020202020204" pitchFamily="34" charset="0"/>
              <a:buChar char="•"/>
            </a:pPr>
            <a:r>
              <a:rPr lang="en-CA" sz="3400" b="1" dirty="0">
                <a:solidFill>
                  <a:schemeClr val="tx1"/>
                </a:solidFill>
              </a:rPr>
              <a:t>Higher BMI </a:t>
            </a:r>
            <a:r>
              <a:rPr lang="en-CA" sz="3400" dirty="0">
                <a:solidFill>
                  <a:schemeClr val="tx1"/>
                </a:solidFill>
              </a:rPr>
              <a:t>elevates odds of </a:t>
            </a:r>
            <a:r>
              <a:rPr lang="en-US" sz="3400" dirty="0">
                <a:solidFill>
                  <a:schemeClr val="tx1"/>
                </a:solidFill>
              </a:rPr>
              <a:t>postoperative hypoxemia , </a:t>
            </a:r>
            <a:r>
              <a:rPr lang="en-CA" sz="3400" dirty="0">
                <a:solidFill>
                  <a:schemeClr val="tx1"/>
                </a:solidFill>
              </a:rPr>
              <a:t>aligning with established literature</a:t>
            </a:r>
            <a:r>
              <a:rPr lang="en-CA" sz="3400" baseline="30000" dirty="0">
                <a:solidFill>
                  <a:schemeClr val="tx1"/>
                </a:solidFill>
              </a:rPr>
              <a:t>4</a:t>
            </a:r>
          </a:p>
          <a:p>
            <a:pPr marL="571500" indent="-571500">
              <a:buFont typeface="Arial" panose="020B0604020202020204" pitchFamily="34" charset="0"/>
              <a:buChar char="•"/>
            </a:pPr>
            <a:r>
              <a:rPr lang="en-CA" sz="3400" b="1" dirty="0">
                <a:solidFill>
                  <a:schemeClr val="tx1"/>
                </a:solidFill>
              </a:rPr>
              <a:t>Higher glucose level </a:t>
            </a:r>
            <a:r>
              <a:rPr lang="en-CA" sz="3400" dirty="0">
                <a:solidFill>
                  <a:schemeClr val="tx1"/>
                </a:solidFill>
              </a:rPr>
              <a:t>were significantly associated with increased odds of hypoxemia</a:t>
            </a:r>
          </a:p>
          <a:p>
            <a:pPr marL="571500" indent="-571500">
              <a:buFont typeface="Arial" panose="020B0604020202020204" pitchFamily="34" charset="0"/>
              <a:buChar char="•"/>
            </a:pPr>
            <a:r>
              <a:rPr lang="en-CA" sz="3400" b="1" dirty="0">
                <a:solidFill>
                  <a:schemeClr val="tx1"/>
                </a:solidFill>
              </a:rPr>
              <a:t>Male</a:t>
            </a:r>
            <a:r>
              <a:rPr lang="en-CA" sz="3400" dirty="0">
                <a:solidFill>
                  <a:schemeClr val="tx1"/>
                </a:solidFill>
              </a:rPr>
              <a:t> patients have higher odds of hypoxemia, which contradicts previous findings that showed being female as a risk factor</a:t>
            </a:r>
            <a:r>
              <a:rPr lang="en-CA" sz="3400" baseline="30000" dirty="0">
                <a:solidFill>
                  <a:schemeClr val="tx1"/>
                </a:solidFill>
              </a:rPr>
              <a:t>4</a:t>
            </a:r>
          </a:p>
          <a:p>
            <a:endParaRPr lang="en-CA" sz="3400" baseline="30000" dirty="0">
              <a:solidFill>
                <a:schemeClr val="tx1"/>
              </a:solidFill>
            </a:endParaRPr>
          </a:p>
          <a:p>
            <a:r>
              <a:rPr lang="en-CA" sz="3400" b="1" dirty="0">
                <a:solidFill>
                  <a:schemeClr val="tx1"/>
                </a:solidFill>
              </a:rPr>
              <a:t>Model Performance and Limitation</a:t>
            </a:r>
          </a:p>
          <a:p>
            <a:pPr marL="571500" indent="-571500">
              <a:buFont typeface="Arial" panose="020B0604020202020204" pitchFamily="34" charset="0"/>
              <a:buChar char="•"/>
            </a:pPr>
            <a:r>
              <a:rPr lang="en-CA" sz="3400" dirty="0">
                <a:solidFill>
                  <a:schemeClr val="tx1"/>
                </a:solidFill>
              </a:rPr>
              <a:t>The full model achieved a lower test misclassification rate (37%) than the reduced model (43%), suggesting that including a broader set of lab test results is necessary to capture the complexity of hypoxemia</a:t>
            </a:r>
          </a:p>
          <a:p>
            <a:pPr marL="571500" indent="-571500">
              <a:buFont typeface="Arial" panose="020B0604020202020204" pitchFamily="34" charset="0"/>
              <a:buChar char="•"/>
            </a:pPr>
            <a:r>
              <a:rPr lang="en-CA" sz="3400" dirty="0">
                <a:solidFill>
                  <a:schemeClr val="tx1"/>
                </a:solidFill>
              </a:rPr>
              <a:t>Only </a:t>
            </a:r>
            <a:r>
              <a:rPr lang="en-CA" sz="3400" dirty="0">
                <a:solidFill>
                  <a:schemeClr val="tx1"/>
                </a:solidFill>
                <a:highlight>
                  <a:srgbClr val="FFFF00"/>
                </a:highlight>
              </a:rPr>
              <a:t>[percentage]% </a:t>
            </a:r>
            <a:r>
              <a:rPr lang="en-CA" sz="3400" dirty="0">
                <a:solidFill>
                  <a:schemeClr val="tx1"/>
                </a:solidFill>
              </a:rPr>
              <a:t>of patients reported postoperative hypoxemia, likely contributing to the relatively high misclassification rate</a:t>
            </a:r>
          </a:p>
          <a:p>
            <a:endParaRPr lang="en-CA" sz="3400" dirty="0">
              <a:solidFill>
                <a:schemeClr val="tx1"/>
              </a:solidFill>
            </a:endParaRPr>
          </a:p>
          <a:p>
            <a:r>
              <a:rPr lang="en-CA" sz="3400" b="1" dirty="0">
                <a:solidFill>
                  <a:schemeClr val="tx1"/>
                </a:solidFill>
              </a:rPr>
              <a:t>Future Directions</a:t>
            </a:r>
          </a:p>
          <a:p>
            <a:pPr marL="571500" indent="-571500">
              <a:buFont typeface="Arial" panose="020B0604020202020204" pitchFamily="34" charset="0"/>
              <a:buChar char="•"/>
            </a:pPr>
            <a:r>
              <a:rPr lang="en-CA" sz="3400" dirty="0">
                <a:solidFill>
                  <a:schemeClr val="tx1"/>
                </a:solidFill>
              </a:rPr>
              <a:t>Employing</a:t>
            </a:r>
            <a:r>
              <a:rPr lang="en-CA" sz="3400" b="1" dirty="0">
                <a:solidFill>
                  <a:schemeClr val="tx1"/>
                </a:solidFill>
              </a:rPr>
              <a:t> </a:t>
            </a:r>
            <a:r>
              <a:rPr lang="en-CA" sz="3400" dirty="0">
                <a:solidFill>
                  <a:schemeClr val="tx1"/>
                </a:solidFill>
              </a:rPr>
              <a:t>oversampling or re-weighting techniques to better account for imbalance and improve predictive accuracy</a:t>
            </a:r>
            <a:r>
              <a:rPr lang="en-CA" sz="3400" dirty="0"/>
              <a:t>.</a:t>
            </a:r>
            <a:endParaRPr lang="en-CA" sz="3400" dirty="0">
              <a:solidFill>
                <a:schemeClr val="tx1"/>
              </a:solidFill>
            </a:endParaRPr>
          </a:p>
          <a:p>
            <a:pPr marL="571500" indent="-571500">
              <a:buFont typeface="Arial" panose="020B0604020202020204" pitchFamily="34" charset="0"/>
              <a:buChar char="•"/>
            </a:pPr>
            <a:r>
              <a:rPr lang="en-CA" sz="3400" dirty="0">
                <a:solidFill>
                  <a:schemeClr val="tx1"/>
                </a:solidFill>
              </a:rPr>
              <a:t>Incorporating a wider variety of laboratory tests to strengthen predictive power</a:t>
            </a:r>
          </a:p>
          <a:p>
            <a:pPr marL="571500" indent="-571500">
              <a:buFont typeface="Arial" panose="020B0604020202020204" pitchFamily="34" charset="0"/>
              <a:buChar char="•"/>
            </a:pPr>
            <a:r>
              <a:rPr lang="en-CA" sz="3400" dirty="0">
                <a:solidFill>
                  <a:schemeClr val="tx1"/>
                </a:solidFill>
              </a:rPr>
              <a:t>Exploring how hypoxemia interacts with other concurrent postoperative complications</a:t>
            </a:r>
          </a:p>
        </p:txBody>
      </p:sp>
      <p:sp>
        <p:nvSpPr>
          <p:cNvPr id="17" name="Rectangle 16">
            <a:extLst>
              <a:ext uri="{FF2B5EF4-FFF2-40B4-BE49-F238E27FC236}">
                <a16:creationId xmlns:a16="http://schemas.microsoft.com/office/drawing/2014/main" id="{A941BB6B-7EBA-AF97-A4F1-CB57ED2D8F55}"/>
              </a:ext>
            </a:extLst>
          </p:cNvPr>
          <p:cNvSpPr/>
          <p:nvPr/>
        </p:nvSpPr>
        <p:spPr>
          <a:xfrm>
            <a:off x="12405360" y="17434560"/>
            <a:ext cx="19080480" cy="1859280"/>
          </a:xfrm>
          <a:prstGeom prst="rect">
            <a:avLst/>
          </a:prstGeom>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bg1"/>
                </a:solidFill>
              </a:rPr>
              <a:t>Key Findings</a:t>
            </a:r>
          </a:p>
        </p:txBody>
      </p:sp>
      <p:sp>
        <p:nvSpPr>
          <p:cNvPr id="18" name="Rectangle 17">
            <a:extLst>
              <a:ext uri="{FF2B5EF4-FFF2-40B4-BE49-F238E27FC236}">
                <a16:creationId xmlns:a16="http://schemas.microsoft.com/office/drawing/2014/main" id="{A3CD819F-3B58-55F3-1C22-E3F69CBAC29C}"/>
              </a:ext>
            </a:extLst>
          </p:cNvPr>
          <p:cNvSpPr/>
          <p:nvPr/>
        </p:nvSpPr>
        <p:spPr>
          <a:xfrm>
            <a:off x="12405360" y="19293840"/>
            <a:ext cx="19080480" cy="13136880"/>
          </a:xfrm>
          <a:prstGeom prst="rect">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400" b="1" dirty="0">
              <a:solidFill>
                <a:schemeClr val="bg1"/>
              </a:solidFill>
            </a:endParaRPr>
          </a:p>
        </p:txBody>
      </p:sp>
      <p:sp>
        <p:nvSpPr>
          <p:cNvPr id="19" name="Rectangle 18">
            <a:extLst>
              <a:ext uri="{FF2B5EF4-FFF2-40B4-BE49-F238E27FC236}">
                <a16:creationId xmlns:a16="http://schemas.microsoft.com/office/drawing/2014/main" id="{116BE30C-7D6B-27BE-E74A-10047729CE16}"/>
              </a:ext>
            </a:extLst>
          </p:cNvPr>
          <p:cNvSpPr/>
          <p:nvPr/>
        </p:nvSpPr>
        <p:spPr>
          <a:xfrm>
            <a:off x="32125920" y="22035436"/>
            <a:ext cx="11765280" cy="1859280"/>
          </a:xfrm>
          <a:prstGeom prst="rect">
            <a:avLst/>
          </a:prstGeom>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bg1"/>
                </a:solidFill>
              </a:rPr>
              <a:t>References</a:t>
            </a:r>
          </a:p>
        </p:txBody>
      </p:sp>
      <p:sp>
        <p:nvSpPr>
          <p:cNvPr id="20" name="Rectangle 19">
            <a:extLst>
              <a:ext uri="{FF2B5EF4-FFF2-40B4-BE49-F238E27FC236}">
                <a16:creationId xmlns:a16="http://schemas.microsoft.com/office/drawing/2014/main" id="{E17746A4-1863-F94B-A173-6096FEA33C6E}"/>
              </a:ext>
            </a:extLst>
          </p:cNvPr>
          <p:cNvSpPr/>
          <p:nvPr/>
        </p:nvSpPr>
        <p:spPr>
          <a:xfrm>
            <a:off x="32125920" y="23894716"/>
            <a:ext cx="11765280" cy="8536004"/>
          </a:xfrm>
          <a:prstGeom prst="rect">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baseline="30000" dirty="0">
                <a:solidFill>
                  <a:schemeClr val="tx1"/>
                </a:solidFill>
              </a:rPr>
              <a:t>1</a:t>
            </a:r>
            <a:r>
              <a:rPr lang="en-US" sz="2400" dirty="0">
                <a:solidFill>
                  <a:schemeClr val="tx1"/>
                </a:solidFill>
              </a:rPr>
              <a:t> Yosef Belay Bizuneh, Mulualem Endeshaw Zeleke, Ashebir Mamay Gebru, Destaw Fetene Teshome, Fantahun Ayenew Mekonnen, Dessie Abebaw Angaw, and Amare Belete Getahun. 2025. Global prevalence of postoperative hypoxemia among adult and pediatric surgical patients: a systematic review and meta-analysis. </a:t>
            </a:r>
            <a:r>
              <a:rPr lang="en-US" sz="2400" i="1" dirty="0">
                <a:solidFill>
                  <a:schemeClr val="tx1"/>
                </a:solidFill>
              </a:rPr>
              <a:t>BMC Anesthesiology</a:t>
            </a:r>
            <a:r>
              <a:rPr lang="en-US" sz="2400" dirty="0">
                <a:solidFill>
                  <a:schemeClr val="tx1"/>
                </a:solidFill>
              </a:rPr>
              <a:t> 25, Article 284 (June 2025), 10 pages. doi:10.1186/s12871-025-03146-3</a:t>
            </a:r>
          </a:p>
          <a:p>
            <a:r>
              <a:rPr lang="en-US" sz="2400" baseline="30000" dirty="0">
                <a:solidFill>
                  <a:schemeClr val="tx1"/>
                </a:solidFill>
              </a:rPr>
              <a:t>2</a:t>
            </a:r>
            <a:r>
              <a:rPr lang="en-US" sz="2400" dirty="0">
                <a:solidFill>
                  <a:schemeClr val="tx1"/>
                </a:solidFill>
              </a:rPr>
              <a:t> Muntaha Samad, Mirana Angel, Joseph Rinehart, Yuzo Kanomata, Pierre Baldi, and Maxime Cannesson. 2023. Medical Informatics Operating Room Vitals and Events Repository (MOVER): a public-access operating room database. </a:t>
            </a:r>
            <a:r>
              <a:rPr lang="en-US" sz="2400" i="1" dirty="0">
                <a:solidFill>
                  <a:schemeClr val="tx1"/>
                </a:solidFill>
              </a:rPr>
              <a:t>JAMIA Open</a:t>
            </a:r>
            <a:r>
              <a:rPr lang="en-US" sz="2400" dirty="0">
                <a:solidFill>
                  <a:schemeClr val="tx1"/>
                </a:solidFill>
              </a:rPr>
              <a:t> 6, 4, Article ooad084 (Oct. 2023), 8 pages. doi:10.1093/jamiaopen/ooad084</a:t>
            </a:r>
          </a:p>
          <a:p>
            <a:r>
              <a:rPr lang="en-US" sz="2400" baseline="30000" dirty="0">
                <a:solidFill>
                  <a:schemeClr val="tx1"/>
                </a:solidFill>
              </a:rPr>
              <a:t>3</a:t>
            </a:r>
            <a:r>
              <a:rPr lang="en-US" sz="2400" dirty="0">
                <a:solidFill>
                  <a:schemeClr val="tx1"/>
                </a:solidFill>
              </a:rPr>
              <a:t> Huiqing Ge, Ye Jiang, Qijun Jin, Linjun Wan, Ximing Qian, and Zhongheng Zhang. 2018. Nomogram for the prediction of postoperative hypoxemia in patients with acute aortic dissection. </a:t>
            </a:r>
            <a:r>
              <a:rPr lang="en-US" sz="2400" i="1" dirty="0">
                <a:solidFill>
                  <a:schemeClr val="tx1"/>
                </a:solidFill>
              </a:rPr>
              <a:t>BMC Anesthesiology</a:t>
            </a:r>
            <a:r>
              <a:rPr lang="en-US" sz="2400" dirty="0">
                <a:solidFill>
                  <a:schemeClr val="tx1"/>
                </a:solidFill>
              </a:rPr>
              <a:t> 18, Article 146 (Oct. 2018), 9 pages. doi:10.1186/s12871-018-0612-7</a:t>
            </a:r>
          </a:p>
          <a:p>
            <a:r>
              <a:rPr lang="en-US" sz="2400" baseline="30000" dirty="0">
                <a:solidFill>
                  <a:schemeClr val="tx1"/>
                </a:solidFill>
              </a:rPr>
              <a:t>4</a:t>
            </a:r>
            <a:r>
              <a:rPr lang="en-US" sz="2400" dirty="0">
                <a:solidFill>
                  <a:schemeClr val="tx1"/>
                </a:solidFill>
              </a:rPr>
              <a:t> Ming Gong, Zining Wu, Shijun Xu, Lei Li, Xiaolong Wang, Xinliang Guan, and Hongjia Zhang. 2019. Increased risk for the development of postoperative severe hypoxemia in obese women with acute type a aortic dissection. </a:t>
            </a:r>
            <a:r>
              <a:rPr lang="en-US" sz="2400" i="1" dirty="0">
                <a:solidFill>
                  <a:schemeClr val="tx1"/>
                </a:solidFill>
              </a:rPr>
              <a:t>Journal of Cardiothoracic Surgery</a:t>
            </a:r>
            <a:r>
              <a:rPr lang="en-US" sz="2400" dirty="0">
                <a:solidFill>
                  <a:schemeClr val="tx1"/>
                </a:solidFill>
              </a:rPr>
              <a:t> 14, Article 81 (April 2019), 9 pages. doi:10.1186/s13019-019-0888-9</a:t>
            </a:r>
          </a:p>
          <a:p>
            <a:r>
              <a:rPr lang="en-US" sz="2400" baseline="30000" dirty="0">
                <a:solidFill>
                  <a:schemeClr val="tx1"/>
                </a:solidFill>
              </a:rPr>
              <a:t>5</a:t>
            </a:r>
            <a:r>
              <a:rPr lang="en-US" sz="2400" dirty="0">
                <a:solidFill>
                  <a:schemeClr val="tx1"/>
                </a:solidFill>
              </a:rPr>
              <a:t> Debas Yaregal Melesse, Zewditu Abdissa Denu, Habtamu Getinet Kassahun, and Abatneh Feleke Agegnehu. 2020. The incidence of early post-operative hypoxemia and its contributing factors among patients underwent operation under anesthesia at University of Gondar comprehensive and specialized referral hospital, Gondar, North West Ethiopia, 2018. A prospective observational study. </a:t>
            </a:r>
            <a:r>
              <a:rPr lang="en-US" sz="2400" i="1" dirty="0">
                <a:solidFill>
                  <a:schemeClr val="tx1"/>
                </a:solidFill>
              </a:rPr>
              <a:t>International Journal of Surgery Open</a:t>
            </a:r>
            <a:r>
              <a:rPr lang="en-US" sz="2400" dirty="0">
                <a:solidFill>
                  <a:schemeClr val="tx1"/>
                </a:solidFill>
              </a:rPr>
              <a:t> 22 (2020), 38–46. doi:10.1016/j.ijso.2019.11.011</a:t>
            </a:r>
          </a:p>
        </p:txBody>
      </p:sp>
      <p:sp>
        <p:nvSpPr>
          <p:cNvPr id="13" name="TextBox 12">
            <a:extLst>
              <a:ext uri="{FF2B5EF4-FFF2-40B4-BE49-F238E27FC236}">
                <a16:creationId xmlns:a16="http://schemas.microsoft.com/office/drawing/2014/main" id="{32B2F649-BCDA-7730-B6AF-C35252EE1F64}"/>
              </a:ext>
            </a:extLst>
          </p:cNvPr>
          <p:cNvSpPr txBox="1"/>
          <p:nvPr/>
        </p:nvSpPr>
        <p:spPr>
          <a:xfrm>
            <a:off x="12563720" y="16213014"/>
            <a:ext cx="18772064" cy="615553"/>
          </a:xfrm>
          <a:prstGeom prst="rect">
            <a:avLst/>
          </a:prstGeom>
          <a:noFill/>
        </p:spPr>
        <p:txBody>
          <a:bodyPr wrap="square" rtlCol="0">
            <a:spAutoFit/>
          </a:bodyPr>
          <a:lstStyle/>
          <a:p>
            <a:pPr algn="ctr"/>
            <a:r>
              <a:rPr lang="en-CA" sz="3400" dirty="0"/>
              <a:t>Figure 1: Flow chart of data wrangling architecture</a:t>
            </a:r>
          </a:p>
        </p:txBody>
      </p:sp>
      <p:pic>
        <p:nvPicPr>
          <p:cNvPr id="21" name="Picture 20" descr="A diagram of data processing&#10;&#10;AI-generated content may be incorrect.">
            <a:extLst>
              <a:ext uri="{FF2B5EF4-FFF2-40B4-BE49-F238E27FC236}">
                <a16:creationId xmlns:a16="http://schemas.microsoft.com/office/drawing/2014/main" id="{F6134213-4E40-D22A-5798-A62D7E98D763}"/>
              </a:ext>
            </a:extLst>
          </p:cNvPr>
          <p:cNvPicPr>
            <a:picLocks noChangeAspect="1"/>
          </p:cNvPicPr>
          <p:nvPr/>
        </p:nvPicPr>
        <p:blipFill>
          <a:blip r:embed="rId2"/>
          <a:stretch>
            <a:fillRect/>
          </a:stretch>
        </p:blipFill>
        <p:spPr>
          <a:xfrm>
            <a:off x="12563719" y="5617696"/>
            <a:ext cx="18788155" cy="10595318"/>
          </a:xfrm>
          <a:prstGeom prst="rect">
            <a:avLst/>
          </a:prstGeom>
        </p:spPr>
      </p:pic>
    </p:spTree>
    <p:extLst>
      <p:ext uri="{BB962C8B-B14F-4D97-AF65-F5344CB8AC3E}">
        <p14:creationId xmlns:p14="http://schemas.microsoft.com/office/powerpoint/2010/main" val="410130662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376</TotalTime>
  <Words>668</Words>
  <Application>Microsoft Macintosh PowerPoint</Application>
  <PresentationFormat>Custom</PresentationFormat>
  <Paragraphs>35</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Benny Rochwerg</dc:creator>
  <cp:lastModifiedBy>leiyang1@student.ubc.ca</cp:lastModifiedBy>
  <cp:revision>132</cp:revision>
  <dcterms:created xsi:type="dcterms:W3CDTF">2026-04-04T03:02:54Z</dcterms:created>
  <dcterms:modified xsi:type="dcterms:W3CDTF">2026-04-08T00:30:14Z</dcterms:modified>
</cp:coreProperties>
</file>