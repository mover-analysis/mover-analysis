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46"/>
  </p:normalViewPr>
  <p:slideViewPr>
    <p:cSldViewPr snapToGrid="0">
      <p:cViewPr>
        <p:scale>
          <a:sx n="22" d="100"/>
          <a:sy n="22" d="100"/>
        </p:scale>
        <p:origin x="1120" y="1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400" b="1" dirty="0">
                <a:solidFill>
                  <a:schemeClr val="tx1"/>
                </a:solidFill>
              </a:rPr>
              <a:t>Key Takeaway: Male patients with high BMI and high glucose may benefit from closer postoperative monitoring for early detection and timely intervention of hypoxemia.</a:t>
            </a:r>
          </a:p>
          <a:p>
            <a:endParaRPr lang="en-CA" sz="3400" b="1" dirty="0">
              <a:solidFill>
                <a:schemeClr val="tx1"/>
              </a:solidFill>
            </a:endParaRPr>
          </a:p>
          <a:p>
            <a:r>
              <a:rPr lang="en-CA" sz="3400" b="1" dirty="0">
                <a:solidFill>
                  <a:schemeClr val="tx1"/>
                </a:solidFill>
              </a:rPr>
              <a:t>Key Risk Factors</a:t>
            </a:r>
          </a:p>
          <a:p>
            <a:pPr marL="571500" indent="-571500">
              <a:buFont typeface="Arial" panose="020B0604020202020204" pitchFamily="34" charset="0"/>
              <a:buChar char="•"/>
            </a:pPr>
            <a:r>
              <a:rPr lang="en-CA" sz="3400" b="1" dirty="0">
                <a:solidFill>
                  <a:schemeClr val="tx1"/>
                </a:solidFill>
              </a:rPr>
              <a:t>Higher BMI </a:t>
            </a:r>
            <a:r>
              <a:rPr lang="en-CA" sz="3400" dirty="0">
                <a:solidFill>
                  <a:schemeClr val="tx1"/>
                </a:solidFill>
              </a:rPr>
              <a:t>elevates odds of </a:t>
            </a:r>
            <a:r>
              <a:rPr lang="en-US" sz="3400" dirty="0">
                <a:solidFill>
                  <a:schemeClr val="tx1"/>
                </a:solidFill>
              </a:rPr>
              <a:t>postoperative hypoxemia , </a:t>
            </a:r>
            <a:r>
              <a:rPr lang="en-CA" sz="3400" dirty="0">
                <a:solidFill>
                  <a:schemeClr val="tx1"/>
                </a:solidFill>
              </a:rPr>
              <a:t>aligning with established literature</a:t>
            </a:r>
            <a:r>
              <a:rPr lang="en-CA" sz="3400" baseline="30000" dirty="0">
                <a:solidFill>
                  <a:schemeClr val="tx1"/>
                </a:solidFill>
              </a:rPr>
              <a:t>4</a:t>
            </a:r>
          </a:p>
          <a:p>
            <a:pPr marL="571500" indent="-571500">
              <a:buFont typeface="Arial" panose="020B0604020202020204" pitchFamily="34" charset="0"/>
              <a:buChar char="•"/>
            </a:pPr>
            <a:r>
              <a:rPr lang="en-CA" sz="3400" b="1" dirty="0">
                <a:solidFill>
                  <a:schemeClr val="tx1"/>
                </a:solidFill>
              </a:rPr>
              <a:t>Higher glucose level </a:t>
            </a:r>
            <a:r>
              <a:rPr lang="en-CA" sz="3400" dirty="0">
                <a:solidFill>
                  <a:schemeClr val="tx1"/>
                </a:solidFill>
              </a:rPr>
              <a:t>were significantly associated with increased odds of hypoxemia</a:t>
            </a:r>
          </a:p>
          <a:p>
            <a:pPr marL="571500" indent="-571500">
              <a:buFont typeface="Arial" panose="020B0604020202020204" pitchFamily="34" charset="0"/>
              <a:buChar char="•"/>
            </a:pPr>
            <a:r>
              <a:rPr lang="en-CA" sz="3400" b="1" dirty="0">
                <a:solidFill>
                  <a:schemeClr val="tx1"/>
                </a:solidFill>
              </a:rPr>
              <a:t>Male</a:t>
            </a:r>
            <a:r>
              <a:rPr lang="en-CA" sz="3400" dirty="0">
                <a:solidFill>
                  <a:schemeClr val="tx1"/>
                </a:solidFill>
              </a:rPr>
              <a:t> patients have higher odds of hypoxemia, which contradicts previous findings that showed being female as a risk factor</a:t>
            </a:r>
            <a:r>
              <a:rPr lang="en-CA" sz="3400" baseline="30000" dirty="0">
                <a:solidFill>
                  <a:schemeClr val="tx1"/>
                </a:solidFill>
              </a:rPr>
              <a:t>4</a:t>
            </a:r>
          </a:p>
          <a:p>
            <a:endParaRPr lang="en-CA" sz="3400" baseline="30000" dirty="0">
              <a:solidFill>
                <a:schemeClr val="tx1"/>
              </a:solidFill>
            </a:endParaRPr>
          </a:p>
          <a:p>
            <a:r>
              <a:rPr lang="en-CA" sz="3400" b="1" dirty="0">
                <a:solidFill>
                  <a:schemeClr val="tx1"/>
                </a:solidFill>
              </a:rPr>
              <a:t>Model Performance and Limitation</a:t>
            </a:r>
          </a:p>
          <a:p>
            <a:pPr marL="571500" indent="-571500">
              <a:buFont typeface="Arial" panose="020B0604020202020204" pitchFamily="34" charset="0"/>
              <a:buChar char="•"/>
            </a:pPr>
            <a:r>
              <a:rPr lang="en-CA" sz="3400" dirty="0">
                <a:solidFill>
                  <a:schemeClr val="tx1"/>
                </a:solidFill>
              </a:rPr>
              <a:t>The full model achieved a lower test misclassification rate (37%) than the reduced model (43%), suggesting that including a broader set of lab test results is necessary to capture the complexity of hypoxemia</a:t>
            </a:r>
          </a:p>
          <a:p>
            <a:pPr marL="571500" indent="-571500">
              <a:buFont typeface="Arial" panose="020B0604020202020204" pitchFamily="34" charset="0"/>
              <a:buChar char="•"/>
            </a:pPr>
            <a:r>
              <a:rPr lang="en-CA" sz="3400" dirty="0">
                <a:solidFill>
                  <a:schemeClr val="tx1"/>
                </a:solidFill>
              </a:rPr>
              <a:t>Only </a:t>
            </a:r>
            <a:r>
              <a:rPr lang="en-CA" sz="3400" dirty="0">
                <a:solidFill>
                  <a:schemeClr val="tx1"/>
                </a:solidFill>
                <a:highlight>
                  <a:srgbClr val="FFFF00"/>
                </a:highlight>
              </a:rPr>
              <a:t>[percentage]% </a:t>
            </a:r>
            <a:r>
              <a:rPr lang="en-CA" sz="3400" dirty="0">
                <a:solidFill>
                  <a:schemeClr val="tx1"/>
                </a:solidFill>
              </a:rPr>
              <a:t>of patients reported postoperative hypoxemia, likely contributing to the relatively high misclassification rate</a:t>
            </a:r>
          </a:p>
          <a:p>
            <a:endParaRPr lang="en-CA" sz="3400" dirty="0">
              <a:solidFill>
                <a:schemeClr val="tx1"/>
              </a:solidFill>
            </a:endParaRPr>
          </a:p>
          <a:p>
            <a:r>
              <a:rPr lang="en-CA" sz="3400" b="1" dirty="0">
                <a:solidFill>
                  <a:schemeClr val="tx1"/>
                </a:solidFill>
              </a:rPr>
              <a:t>Future Directions</a:t>
            </a:r>
          </a:p>
          <a:p>
            <a:pPr marL="571500" indent="-571500">
              <a:buFont typeface="Arial" panose="020B0604020202020204" pitchFamily="34" charset="0"/>
              <a:buChar char="•"/>
            </a:pPr>
            <a:r>
              <a:rPr lang="en-CA" sz="3400" dirty="0">
                <a:solidFill>
                  <a:schemeClr val="tx1"/>
                </a:solidFill>
              </a:rPr>
              <a:t>Employing</a:t>
            </a:r>
            <a:r>
              <a:rPr lang="en-CA" sz="3400" b="1" dirty="0">
                <a:solidFill>
                  <a:schemeClr val="tx1"/>
                </a:solidFill>
              </a:rPr>
              <a:t> </a:t>
            </a:r>
            <a:r>
              <a:rPr lang="en-CA" sz="3400" dirty="0">
                <a:solidFill>
                  <a:schemeClr val="tx1"/>
                </a:solidFill>
              </a:rPr>
              <a:t>oversampling or re-weighting techniques to better account for imbalance and improve predictive accuracy</a:t>
            </a:r>
            <a:r>
              <a:rPr lang="en-CA" sz="3400" dirty="0"/>
              <a:t>.</a:t>
            </a:r>
            <a:endParaRPr lang="en-CA" sz="3400" dirty="0">
              <a:solidFill>
                <a:schemeClr val="tx1"/>
              </a:solidFill>
            </a:endParaRPr>
          </a:p>
          <a:p>
            <a:pPr marL="571500" indent="-571500">
              <a:buFont typeface="Arial" panose="020B0604020202020204" pitchFamily="34" charset="0"/>
              <a:buChar char="•"/>
            </a:pPr>
            <a:r>
              <a:rPr lang="en-CA" sz="3400" dirty="0">
                <a:solidFill>
                  <a:schemeClr val="tx1"/>
                </a:solidFill>
              </a:rPr>
              <a:t>Incorporating a wider variety of laboratory tests to strengthen predictive power</a:t>
            </a:r>
          </a:p>
          <a:p>
            <a:pPr marL="571500" indent="-571500">
              <a:buFont typeface="Arial" panose="020B0604020202020204" pitchFamily="34" charset="0"/>
              <a:buChar char="•"/>
            </a:pPr>
            <a:r>
              <a:rPr lang="en-CA" sz="3400" dirty="0">
                <a:solidFill>
                  <a:schemeClr val="tx1"/>
                </a:solidFill>
              </a:rPr>
              <a:t>Exploring how hypoxemia interacts with other concurrent postoperative complications</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40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
        <p:nvSpPr>
          <p:cNvPr id="13" name="TextBox 12">
            <a:extLst>
              <a:ext uri="{FF2B5EF4-FFF2-40B4-BE49-F238E27FC236}">
                <a16:creationId xmlns:a16="http://schemas.microsoft.com/office/drawing/2014/main" id="{32B2F649-BCDA-7730-B6AF-C35252EE1F64}"/>
              </a:ext>
            </a:extLst>
          </p:cNvPr>
          <p:cNvSpPr txBox="1"/>
          <p:nvPr/>
        </p:nvSpPr>
        <p:spPr>
          <a:xfrm>
            <a:off x="12563720" y="16213014"/>
            <a:ext cx="18772064" cy="615553"/>
          </a:xfrm>
          <a:prstGeom prst="rect">
            <a:avLst/>
          </a:prstGeom>
          <a:noFill/>
        </p:spPr>
        <p:txBody>
          <a:bodyPr wrap="square" rtlCol="0">
            <a:spAutoFit/>
          </a:bodyPr>
          <a:lstStyle/>
          <a:p>
            <a:pPr algn="ctr"/>
            <a:r>
              <a:rPr lang="en-CA" sz="3400" dirty="0"/>
              <a:t>Figure 1. Flow chart of data wrangling architecture</a:t>
            </a:r>
          </a:p>
        </p:txBody>
      </p:sp>
      <p:pic>
        <p:nvPicPr>
          <p:cNvPr id="21" name="Picture 20" descr="A diagram of data processing&#10;&#10;AI-generated content may be incorrect.">
            <a:extLst>
              <a:ext uri="{FF2B5EF4-FFF2-40B4-BE49-F238E27FC236}">
                <a16:creationId xmlns:a16="http://schemas.microsoft.com/office/drawing/2014/main" id="{F6134213-4E40-D22A-5798-A62D7E98D763}"/>
              </a:ext>
            </a:extLst>
          </p:cNvPr>
          <p:cNvPicPr>
            <a:picLocks noChangeAspect="1"/>
          </p:cNvPicPr>
          <p:nvPr/>
        </p:nvPicPr>
        <p:blipFill>
          <a:blip r:embed="rId2"/>
          <a:stretch>
            <a:fillRect/>
          </a:stretch>
        </p:blipFill>
        <p:spPr>
          <a:xfrm>
            <a:off x="12563719" y="5617696"/>
            <a:ext cx="18788155" cy="10595318"/>
          </a:xfrm>
          <a:prstGeom prst="rect">
            <a:avLst/>
          </a:prstGeom>
        </p:spPr>
      </p:pic>
      <p:pic>
        <p:nvPicPr>
          <p:cNvPr id="26" name="Picture 25" descr="A table of numbers and symbols&#10;&#10;AI-generated content may be incorrect.">
            <a:extLst>
              <a:ext uri="{FF2B5EF4-FFF2-40B4-BE49-F238E27FC236}">
                <a16:creationId xmlns:a16="http://schemas.microsoft.com/office/drawing/2014/main" id="{9790313B-A35A-8402-936A-79585617DE5E}"/>
              </a:ext>
            </a:extLst>
          </p:cNvPr>
          <p:cNvPicPr>
            <a:picLocks/>
          </p:cNvPicPr>
          <p:nvPr/>
        </p:nvPicPr>
        <p:blipFill>
          <a:blip r:embed="rId3"/>
          <a:stretch>
            <a:fillRect/>
          </a:stretch>
        </p:blipFill>
        <p:spPr>
          <a:xfrm>
            <a:off x="12600000" y="19440000"/>
            <a:ext cx="11520000" cy="8640000"/>
          </a:xfrm>
          <a:prstGeom prst="rect">
            <a:avLst/>
          </a:prstGeom>
        </p:spPr>
      </p:pic>
      <p:sp>
        <p:nvSpPr>
          <p:cNvPr id="27" name="TextBox 26">
            <a:extLst>
              <a:ext uri="{FF2B5EF4-FFF2-40B4-BE49-F238E27FC236}">
                <a16:creationId xmlns:a16="http://schemas.microsoft.com/office/drawing/2014/main" id="{B883D036-DA5E-DF26-BA4E-92F1092F8870}"/>
              </a:ext>
            </a:extLst>
          </p:cNvPr>
          <p:cNvSpPr txBox="1"/>
          <p:nvPr/>
        </p:nvSpPr>
        <p:spPr>
          <a:xfrm>
            <a:off x="12600000" y="28080000"/>
            <a:ext cx="11520000" cy="1138773"/>
          </a:xfrm>
          <a:prstGeom prst="rect">
            <a:avLst/>
          </a:prstGeom>
          <a:noFill/>
        </p:spPr>
        <p:txBody>
          <a:bodyPr wrap="square" rtlCol="0">
            <a:spAutoFit/>
          </a:bodyPr>
          <a:lstStyle/>
          <a:p>
            <a:pPr algn="ctr"/>
            <a:r>
              <a:rPr lang="en-CA" sz="3400" dirty="0"/>
              <a:t>Table 1. Full logistic regression model results for postoperative hypoxemia</a:t>
            </a:r>
          </a:p>
        </p:txBody>
      </p:sp>
      <p:sp>
        <p:nvSpPr>
          <p:cNvPr id="28" name="TextBox 27">
            <a:extLst>
              <a:ext uri="{FF2B5EF4-FFF2-40B4-BE49-F238E27FC236}">
                <a16:creationId xmlns:a16="http://schemas.microsoft.com/office/drawing/2014/main" id="{367ADE44-BEC7-6BE9-E3DE-11B7A71A3EEC}"/>
              </a:ext>
            </a:extLst>
          </p:cNvPr>
          <p:cNvSpPr txBox="1"/>
          <p:nvPr/>
        </p:nvSpPr>
        <p:spPr>
          <a:xfrm>
            <a:off x="24190338" y="19473081"/>
            <a:ext cx="7200000" cy="9000000"/>
          </a:xfrm>
          <a:prstGeom prst="rect">
            <a:avLst/>
          </a:prstGeom>
          <a:noFill/>
        </p:spPr>
        <p:txBody>
          <a:bodyPr wrap="square" rtlCol="0">
            <a:spAutoFit/>
          </a:bodyPr>
          <a:lstStyle/>
          <a:p>
            <a:pPr marL="571500" indent="-571500">
              <a:buFont typeface="Arial" panose="020B0604020202020204" pitchFamily="34" charset="0"/>
              <a:buChar char="•"/>
            </a:pPr>
            <a:r>
              <a:rPr lang="en-CA" sz="4400" dirty="0"/>
              <a:t>Table 1 presents the full logistic regression model results. In the full model, sex and body mass index were the only predictors significant at the 0.05 level, with female sex associated with lower odds of postoperative hypoxemia and higher body mass index associated with higher odds.</a:t>
            </a:r>
          </a:p>
        </p:txBody>
      </p:sp>
      <p:sp>
        <p:nvSpPr>
          <p:cNvPr id="29" name="TextBox 28">
            <a:extLst>
              <a:ext uri="{FF2B5EF4-FFF2-40B4-BE49-F238E27FC236}">
                <a16:creationId xmlns:a16="http://schemas.microsoft.com/office/drawing/2014/main" id="{7A6DCCC3-3773-82B3-CC32-8929B10E1F37}"/>
              </a:ext>
            </a:extLst>
          </p:cNvPr>
          <p:cNvSpPr txBox="1"/>
          <p:nvPr/>
        </p:nvSpPr>
        <p:spPr>
          <a:xfrm>
            <a:off x="12405359" y="29429787"/>
            <a:ext cx="19080479" cy="2523768"/>
          </a:xfrm>
          <a:prstGeom prst="rect">
            <a:avLst/>
          </a:prstGeom>
          <a:noFill/>
        </p:spPr>
        <p:txBody>
          <a:bodyPr wrap="square" rtlCol="0">
            <a:spAutoFit/>
          </a:bodyPr>
          <a:lstStyle/>
          <a:p>
            <a:pPr marL="285750" indent="-285750">
              <a:buFont typeface="Arial" panose="020B0604020202020204" pitchFamily="34" charset="0"/>
              <a:buChar char="•"/>
            </a:pPr>
            <a:r>
              <a:rPr lang="en-CA" sz="3950" dirty="0"/>
              <a:t>On the test set, the full model had a misclassification error rate of 0.293 (29.3%), while the reduced model, which included only the predictors that were significant in the full model, had a misclassification error rate of 0.28 (28.0%). Thus, the reduced model showed slightly better predictive performance than the full model in this sample.</a:t>
            </a: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440</TotalTime>
  <Words>793</Words>
  <Application>Microsoft Macintosh PowerPoint</Application>
  <PresentationFormat>Custom</PresentationFormat>
  <Paragraphs>38</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leiyang1@student.ubc.ca</cp:lastModifiedBy>
  <cp:revision>133</cp:revision>
  <dcterms:created xsi:type="dcterms:W3CDTF">2026-04-04T03:02:54Z</dcterms:created>
  <dcterms:modified xsi:type="dcterms:W3CDTF">2026-04-08T01:45:44Z</dcterms:modified>
</cp:coreProperties>
</file>