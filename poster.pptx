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667"/>
    <p:restoredTop sz="94646"/>
  </p:normalViewPr>
  <p:slideViewPr>
    <p:cSldViewPr snapToGrid="0">
      <p:cViewPr>
        <p:scale>
          <a:sx n="29" d="100"/>
          <a:sy n="29" d="100"/>
        </p:scale>
        <p:origin x="189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4101323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2188103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820580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C993A5-351A-0C44-BFB9-E82F4DAB1F4D}"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1867393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C993A5-351A-0C44-BFB9-E82F4DAB1F4D}" type="datetimeFigureOut">
              <a:rPr lang="en-US" smtClean="0"/>
              <a:t>4/7/26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2258903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C993A5-351A-0C44-BFB9-E82F4DAB1F4D}" type="datetimeFigureOut">
              <a:rPr lang="en-US" smtClean="0"/>
              <a:t>4/7/26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2175383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C993A5-351A-0C44-BFB9-E82F4DAB1F4D}" type="datetimeFigureOut">
              <a:rPr lang="en-US" smtClean="0"/>
              <a:t>4/7/26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1845038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1C993A5-351A-0C44-BFB9-E82F4DAB1F4D}"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1866239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1C993A5-351A-0C44-BFB9-E82F4DAB1F4D}"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4097846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27396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1079891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91C993A5-351A-0C44-BFB9-E82F4DAB1F4D}" type="datetimeFigureOut">
              <a:rPr lang="en-US" smtClean="0"/>
              <a:t>4/7/26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64326DBA-4073-E64F-90F9-A85A33B269AF}" type="slidenum">
              <a:rPr lang="en-US" smtClean="0"/>
              <a:t>‹#›</a:t>
            </a:fld>
            <a:endParaRPr lang="en-US"/>
          </a:p>
        </p:txBody>
      </p:sp>
    </p:spTree>
    <p:extLst>
      <p:ext uri="{BB962C8B-B14F-4D97-AF65-F5344CB8AC3E}">
        <p14:creationId xmlns:p14="http://schemas.microsoft.com/office/powerpoint/2010/main" val="38776533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5B43CF-0677-170A-7B9A-322A7772D946}"/>
              </a:ext>
            </a:extLst>
          </p:cNvPr>
          <p:cNvSpPr/>
          <p:nvPr/>
        </p:nvSpPr>
        <p:spPr>
          <a:xfrm>
            <a:off x="0" y="0"/>
            <a:ext cx="43891200" cy="3169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bg1"/>
                </a:solidFill>
              </a:rPr>
              <a:t>Investigating Postoperative Hypoxemia Using the Medical Informatics Operating Room Vitals and Events Repository (MOVER)</a:t>
            </a:r>
          </a:p>
          <a:p>
            <a:pPr algn="ctr"/>
            <a:r>
              <a:rPr lang="en-US" sz="5400" b="1" dirty="0">
                <a:solidFill>
                  <a:schemeClr val="bg1"/>
                </a:solidFill>
              </a:rPr>
              <a:t>Authors</a:t>
            </a:r>
            <a:r>
              <a:rPr lang="en-US" sz="5400" b="1" baseline="30000" dirty="0">
                <a:solidFill>
                  <a:schemeClr val="bg1"/>
                </a:solidFill>
              </a:rPr>
              <a:t>1</a:t>
            </a:r>
          </a:p>
          <a:p>
            <a:pPr algn="ctr"/>
            <a:r>
              <a:rPr lang="en-US" sz="5400" b="1" baseline="30000" dirty="0">
                <a:solidFill>
                  <a:schemeClr val="bg1"/>
                </a:solidFill>
              </a:rPr>
              <a:t>1</a:t>
            </a:r>
            <a:r>
              <a:rPr lang="en-US" sz="5400" b="1" dirty="0">
                <a:solidFill>
                  <a:schemeClr val="bg1"/>
                </a:solidFill>
              </a:rPr>
              <a:t>Dalla Lana School of Public Health, Biostatistics Division, University of Toronto, Toronto, Canada</a:t>
            </a:r>
          </a:p>
        </p:txBody>
      </p:sp>
      <p:sp>
        <p:nvSpPr>
          <p:cNvPr id="5" name="Rectangle 4">
            <a:extLst>
              <a:ext uri="{FF2B5EF4-FFF2-40B4-BE49-F238E27FC236}">
                <a16:creationId xmlns:a16="http://schemas.microsoft.com/office/drawing/2014/main" id="{A68FF29C-A11A-8F0B-DB24-0BD532AA4ED9}"/>
              </a:ext>
            </a:extLst>
          </p:cNvPr>
          <p:cNvSpPr/>
          <p:nvPr/>
        </p:nvSpPr>
        <p:spPr>
          <a:xfrm>
            <a:off x="0" y="3688080"/>
            <a:ext cx="117652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Abstract</a:t>
            </a:r>
          </a:p>
        </p:txBody>
      </p:sp>
      <p:sp>
        <p:nvSpPr>
          <p:cNvPr id="6" name="Rectangle 5">
            <a:extLst>
              <a:ext uri="{FF2B5EF4-FFF2-40B4-BE49-F238E27FC236}">
                <a16:creationId xmlns:a16="http://schemas.microsoft.com/office/drawing/2014/main" id="{1EE339CE-AE4C-79CA-FC15-D4765201822D}"/>
              </a:ext>
            </a:extLst>
          </p:cNvPr>
          <p:cNvSpPr/>
          <p:nvPr/>
        </p:nvSpPr>
        <p:spPr>
          <a:xfrm>
            <a:off x="0" y="5547360"/>
            <a:ext cx="11765280" cy="59131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b="1" dirty="0">
              <a:solidFill>
                <a:schemeClr val="bg1"/>
              </a:solidFill>
            </a:endParaRPr>
          </a:p>
        </p:txBody>
      </p:sp>
      <p:sp>
        <p:nvSpPr>
          <p:cNvPr id="7" name="Rectangle 6">
            <a:extLst>
              <a:ext uri="{FF2B5EF4-FFF2-40B4-BE49-F238E27FC236}">
                <a16:creationId xmlns:a16="http://schemas.microsoft.com/office/drawing/2014/main" id="{98DFB418-5C94-A0D6-0044-2EA99F46E538}"/>
              </a:ext>
            </a:extLst>
          </p:cNvPr>
          <p:cNvSpPr/>
          <p:nvPr/>
        </p:nvSpPr>
        <p:spPr>
          <a:xfrm>
            <a:off x="0" y="12009120"/>
            <a:ext cx="117652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Introduction &amp; Literature Review</a:t>
            </a:r>
          </a:p>
        </p:txBody>
      </p:sp>
      <p:sp>
        <p:nvSpPr>
          <p:cNvPr id="8" name="Rectangle 7">
            <a:extLst>
              <a:ext uri="{FF2B5EF4-FFF2-40B4-BE49-F238E27FC236}">
                <a16:creationId xmlns:a16="http://schemas.microsoft.com/office/drawing/2014/main" id="{E4708671-0CBF-F325-E50C-9D027424808E}"/>
              </a:ext>
            </a:extLst>
          </p:cNvPr>
          <p:cNvSpPr/>
          <p:nvPr/>
        </p:nvSpPr>
        <p:spPr>
          <a:xfrm>
            <a:off x="0" y="13868400"/>
            <a:ext cx="11765280" cy="185623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685800" indent="-685800">
              <a:buFont typeface="Arial" panose="020B0604020202020204" pitchFamily="34" charset="0"/>
              <a:buChar char="•"/>
            </a:pPr>
            <a:r>
              <a:rPr lang="en-US" sz="4600" dirty="0">
                <a:solidFill>
                  <a:schemeClr val="tx1"/>
                </a:solidFill>
              </a:rPr>
              <a:t>Postoperative hypoxemia is a frequent complication from anesthetic</a:t>
            </a:r>
            <a:r>
              <a:rPr lang="en-US" sz="4600" baseline="30000" dirty="0">
                <a:solidFill>
                  <a:schemeClr val="tx1"/>
                </a:solidFill>
              </a:rPr>
              <a:t>1</a:t>
            </a:r>
            <a:br>
              <a:rPr lang="en-US" sz="4600" dirty="0">
                <a:solidFill>
                  <a:schemeClr val="tx1"/>
                </a:solidFill>
              </a:rPr>
            </a:br>
            <a:endParaRPr lang="en-US" sz="4600" dirty="0">
              <a:solidFill>
                <a:schemeClr val="tx1"/>
              </a:solidFill>
            </a:endParaRPr>
          </a:p>
          <a:p>
            <a:pPr marL="685800" indent="-685800">
              <a:buFont typeface="Arial" panose="020B0604020202020204" pitchFamily="34" charset="0"/>
              <a:buChar char="•"/>
            </a:pPr>
            <a:r>
              <a:rPr lang="en-US" sz="4600" dirty="0">
                <a:solidFill>
                  <a:schemeClr val="tx1"/>
                </a:solidFill>
              </a:rPr>
              <a:t>The MOVER EPIC dataset includes records from 64,354 surgeries between 2017 and 2022</a:t>
            </a:r>
            <a:r>
              <a:rPr lang="en-US" sz="4600" baseline="30000" dirty="0">
                <a:solidFill>
                  <a:schemeClr val="tx1"/>
                </a:solidFill>
              </a:rPr>
              <a:t>2</a:t>
            </a:r>
            <a:r>
              <a:rPr lang="en-US" sz="4600" dirty="0">
                <a:solidFill>
                  <a:schemeClr val="tx1"/>
                </a:solidFill>
              </a:rPr>
              <a:t> and can be used to study this issue</a:t>
            </a:r>
            <a:br>
              <a:rPr lang="en-US" sz="4600" dirty="0">
                <a:solidFill>
                  <a:schemeClr val="tx1"/>
                </a:solidFill>
              </a:rPr>
            </a:br>
            <a:endParaRPr lang="en-US" sz="4600" dirty="0">
              <a:solidFill>
                <a:schemeClr val="tx1"/>
              </a:solidFill>
            </a:endParaRPr>
          </a:p>
          <a:p>
            <a:pPr marL="685800" indent="-685800">
              <a:buFont typeface="Arial" panose="020B0604020202020204" pitchFamily="34" charset="0"/>
              <a:buChar char="•"/>
            </a:pPr>
            <a:r>
              <a:rPr lang="en-US" sz="4600" dirty="0">
                <a:solidFill>
                  <a:schemeClr val="tx1"/>
                </a:solidFill>
              </a:rPr>
              <a:t>Prior research has assessed how postoperative hypoxemia is affected by different variables, but these models only contained up to four laboratory test results</a:t>
            </a:r>
            <a:r>
              <a:rPr lang="en-US" sz="4600" baseline="30000" dirty="0">
                <a:solidFill>
                  <a:schemeClr val="tx1"/>
                </a:solidFill>
              </a:rPr>
              <a:t>3,4,5</a:t>
            </a:r>
            <a:br>
              <a:rPr lang="en-US" sz="4600" dirty="0">
                <a:solidFill>
                  <a:schemeClr val="tx1"/>
                </a:solidFill>
              </a:rPr>
            </a:br>
            <a:endParaRPr lang="en-US" sz="4600" dirty="0">
              <a:solidFill>
                <a:schemeClr val="tx1"/>
              </a:solidFill>
            </a:endParaRPr>
          </a:p>
          <a:p>
            <a:pPr marL="685800" indent="-685800">
              <a:buFont typeface="Arial" panose="020B0604020202020204" pitchFamily="34" charset="0"/>
              <a:buChar char="•"/>
            </a:pPr>
            <a:r>
              <a:rPr lang="en-US" sz="4600" dirty="0">
                <a:solidFill>
                  <a:schemeClr val="tx1"/>
                </a:solidFill>
              </a:rPr>
              <a:t>To fill this gap characterized by few laboratory test results, this work modelled postoperative hypoxemia probability using logistic regression with up to ten preoperative laboratory test results and three demographic variables as covariates</a:t>
            </a:r>
            <a:br>
              <a:rPr lang="en-US" sz="4600" dirty="0">
                <a:solidFill>
                  <a:schemeClr val="tx1"/>
                </a:solidFill>
              </a:rPr>
            </a:br>
            <a:endParaRPr lang="en-US" sz="4600" dirty="0">
              <a:solidFill>
                <a:schemeClr val="tx1"/>
              </a:solidFill>
            </a:endParaRPr>
          </a:p>
          <a:p>
            <a:pPr marL="685800" indent="-685800">
              <a:buFont typeface="Arial" panose="020B0604020202020204" pitchFamily="34" charset="0"/>
              <a:buChar char="•"/>
            </a:pPr>
            <a:r>
              <a:rPr lang="en-US" sz="4600" dirty="0">
                <a:solidFill>
                  <a:schemeClr val="tx1"/>
                </a:solidFill>
              </a:rPr>
              <a:t>The objective was to detect significant predictors of postoperative hypoxemia and determine the accuracy of predicting its probability with just these variables</a:t>
            </a:r>
          </a:p>
        </p:txBody>
      </p:sp>
      <p:sp>
        <p:nvSpPr>
          <p:cNvPr id="11" name="Rectangle 10">
            <a:extLst>
              <a:ext uri="{FF2B5EF4-FFF2-40B4-BE49-F238E27FC236}">
                <a16:creationId xmlns:a16="http://schemas.microsoft.com/office/drawing/2014/main" id="{9CC0B919-8020-E8F8-3BDF-3166A97C25E4}"/>
              </a:ext>
            </a:extLst>
          </p:cNvPr>
          <p:cNvSpPr/>
          <p:nvPr/>
        </p:nvSpPr>
        <p:spPr>
          <a:xfrm>
            <a:off x="12405360" y="3688080"/>
            <a:ext cx="190804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Methodology (The Pipeline)</a:t>
            </a:r>
          </a:p>
        </p:txBody>
      </p:sp>
      <p:sp>
        <p:nvSpPr>
          <p:cNvPr id="12" name="Rectangle 11">
            <a:extLst>
              <a:ext uri="{FF2B5EF4-FFF2-40B4-BE49-F238E27FC236}">
                <a16:creationId xmlns:a16="http://schemas.microsoft.com/office/drawing/2014/main" id="{C832F517-8897-94A1-D97E-0D0A5CD490A6}"/>
              </a:ext>
            </a:extLst>
          </p:cNvPr>
          <p:cNvSpPr/>
          <p:nvPr/>
        </p:nvSpPr>
        <p:spPr>
          <a:xfrm>
            <a:off x="12405360" y="5547360"/>
            <a:ext cx="19080480" cy="1130808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r>
              <a:rPr lang="en-US" sz="3200" b="1" dirty="0">
                <a:solidFill>
                  <a:schemeClr val="tx1"/>
                </a:solidFill>
              </a:rPr>
              <a:t>Preprocessing Data</a:t>
            </a:r>
            <a:r>
              <a:rPr lang="en-US" sz="3200" dirty="0">
                <a:solidFill>
                  <a:schemeClr val="tx1"/>
                </a:solidFill>
              </a:rPr>
              <a:t>: Selected encounter-level identifiers, postoperative complication records, demographic variables, laboratory test results, and alignment timestamps (anesthesia start time and laboratory collection time) from the MOVER tables.</a:t>
            </a:r>
          </a:p>
          <a:p>
            <a:pPr marL="171450" indent="-171450">
              <a:buFont typeface="Arial" panose="020B0604020202020204" pitchFamily="34" charset="0"/>
              <a:buChar char="•"/>
            </a:pPr>
            <a:endParaRPr lang="en-US" sz="1200" dirty="0">
              <a:solidFill>
                <a:schemeClr val="tx1"/>
              </a:solidFill>
            </a:endParaRPr>
          </a:p>
          <a:p>
            <a:pPr marL="457200" indent="-457200">
              <a:buFont typeface="Arial" panose="020B0604020202020204" pitchFamily="34" charset="0"/>
              <a:buChar char="•"/>
            </a:pPr>
            <a:r>
              <a:rPr lang="en-US" sz="3200" b="1" dirty="0">
                <a:solidFill>
                  <a:schemeClr val="tx1"/>
                </a:solidFill>
              </a:rPr>
              <a:t>Cleaning Data</a:t>
            </a:r>
            <a:r>
              <a:rPr lang="en-US" sz="3200" dirty="0">
                <a:solidFill>
                  <a:schemeClr val="tx1"/>
                </a:solidFill>
              </a:rPr>
              <a:t>: Converted height and weight to metric units, imputed missing demographic values, and excluded implausible laboratory values. Laboratory predictors were selected as 5 prespecified tests and the 5 most common additional tests. For each target test, only the most recent preoperative result was retained for each encounter.</a:t>
            </a:r>
          </a:p>
          <a:p>
            <a:pPr marL="171450" indent="-171450">
              <a:buFont typeface="Arial" panose="020B0604020202020204" pitchFamily="34" charset="0"/>
              <a:buChar char="•"/>
            </a:pPr>
            <a:endParaRPr lang="en-US" sz="1200" dirty="0">
              <a:solidFill>
                <a:schemeClr val="tx1"/>
              </a:solidFill>
            </a:endParaRPr>
          </a:p>
          <a:p>
            <a:pPr marL="457200" indent="-457200">
              <a:buFont typeface="Arial" panose="020B0604020202020204" pitchFamily="34" charset="0"/>
              <a:buChar char="•"/>
            </a:pPr>
            <a:r>
              <a:rPr lang="en-US" sz="3200" b="1" dirty="0">
                <a:solidFill>
                  <a:schemeClr val="tx1"/>
                </a:solidFill>
              </a:rPr>
              <a:t>Feature Engineering</a:t>
            </a:r>
            <a:r>
              <a:rPr lang="en-US" sz="3200" dirty="0">
                <a:solidFill>
                  <a:schemeClr val="tx1"/>
                </a:solidFill>
              </a:rPr>
              <a:t>: Created a binary postoperative hypoxemia outcome from complication records, recoded sex as binary, and calculated BMI from height and weight.</a:t>
            </a:r>
          </a:p>
          <a:p>
            <a:pPr marL="171450" indent="-171450">
              <a:buFont typeface="Arial" panose="020B0604020202020204" pitchFamily="34" charset="0"/>
              <a:buChar char="•"/>
            </a:pPr>
            <a:endParaRPr lang="en-US" sz="1200" dirty="0">
              <a:solidFill>
                <a:schemeClr val="tx1"/>
              </a:solidFill>
            </a:endParaRPr>
          </a:p>
          <a:p>
            <a:pPr marL="457200" indent="-457200">
              <a:buFont typeface="Arial" panose="020B0604020202020204" pitchFamily="34" charset="0"/>
              <a:buChar char="•"/>
            </a:pPr>
            <a:r>
              <a:rPr lang="en-US" sz="3200" b="1" dirty="0">
                <a:solidFill>
                  <a:schemeClr val="tx1"/>
                </a:solidFill>
              </a:rPr>
              <a:t>Data Restructuring</a:t>
            </a:r>
            <a:r>
              <a:rPr lang="en-US" sz="3200" dirty="0">
                <a:solidFill>
                  <a:schemeClr val="tx1"/>
                </a:solidFill>
              </a:rPr>
              <a:t>: Renamed selected variables and reshaped laboratory data from long to wide format, creating one encounter-level row with separate columns for each laboratory predictor.</a:t>
            </a:r>
          </a:p>
          <a:p>
            <a:pPr marL="171450" indent="-171450">
              <a:buFont typeface="Arial" panose="020B0604020202020204" pitchFamily="34" charset="0"/>
              <a:buChar char="•"/>
            </a:pPr>
            <a:endParaRPr lang="en-US" sz="1200" dirty="0">
              <a:solidFill>
                <a:schemeClr val="tx1"/>
              </a:solidFill>
            </a:endParaRPr>
          </a:p>
          <a:p>
            <a:pPr marL="457200" indent="-457200">
              <a:buFont typeface="Arial" panose="020B0604020202020204" pitchFamily="34" charset="0"/>
              <a:buChar char="•"/>
            </a:pPr>
            <a:r>
              <a:rPr lang="en-US" sz="3200" b="1" dirty="0">
                <a:solidFill>
                  <a:schemeClr val="tx1"/>
                </a:solidFill>
              </a:rPr>
              <a:t>Data Validation</a:t>
            </a:r>
            <a:r>
              <a:rPr lang="en-US" sz="3200" dirty="0">
                <a:solidFill>
                  <a:schemeClr val="tx1"/>
                </a:solidFill>
              </a:rPr>
              <a:t>: The dataset was checked for duplicate keys, required columns, variable types, implausible values, and missingness. Variables with more than 50% missingness were dropped; pH, CRP, and lactate were excluded.</a:t>
            </a:r>
          </a:p>
          <a:p>
            <a:pPr marL="171450" indent="-171450">
              <a:buFont typeface="Arial" panose="020B0604020202020204" pitchFamily="34" charset="0"/>
              <a:buChar char="•"/>
            </a:pPr>
            <a:endParaRPr lang="en-US" sz="1200" dirty="0">
              <a:solidFill>
                <a:schemeClr val="tx1"/>
              </a:solidFill>
            </a:endParaRPr>
          </a:p>
          <a:p>
            <a:pPr marL="457200" indent="-457200">
              <a:buFont typeface="Arial" panose="020B0604020202020204" pitchFamily="34" charset="0"/>
              <a:buChar char="•"/>
            </a:pPr>
            <a:r>
              <a:rPr lang="en-US" sz="3200" b="1" dirty="0">
                <a:solidFill>
                  <a:schemeClr val="tx1"/>
                </a:solidFill>
              </a:rPr>
              <a:t>Cohort Split</a:t>
            </a:r>
            <a:r>
              <a:rPr lang="en-US" sz="3200" dirty="0">
                <a:solidFill>
                  <a:schemeClr val="tx1"/>
                </a:solidFill>
              </a:rPr>
              <a:t>: A case-control cohort was constructed by retaining all 98 hypoxemia encounters and randomly sampling 200 non-hypoxemia encounters, followed by a stratified 75%/25% training-test split.</a:t>
            </a:r>
          </a:p>
          <a:p>
            <a:pPr marL="171450" indent="-171450">
              <a:buFont typeface="Arial" panose="020B0604020202020204" pitchFamily="34" charset="0"/>
              <a:buChar char="•"/>
            </a:pPr>
            <a:endParaRPr lang="en-US" sz="1200" dirty="0">
              <a:solidFill>
                <a:schemeClr val="tx1"/>
              </a:solidFill>
            </a:endParaRPr>
          </a:p>
          <a:p>
            <a:pPr marL="457200" indent="-457200">
              <a:buFont typeface="Arial" panose="020B0604020202020204" pitchFamily="34" charset="0"/>
              <a:buChar char="•"/>
            </a:pPr>
            <a:r>
              <a:rPr lang="en-US" sz="3200" b="1" dirty="0">
                <a:solidFill>
                  <a:schemeClr val="tx1"/>
                </a:solidFill>
              </a:rPr>
              <a:t>Plots &amp; Transformation</a:t>
            </a:r>
            <a:r>
              <a:rPr lang="en-US" sz="3200" dirty="0">
                <a:solidFill>
                  <a:schemeClr val="tx1"/>
                </a:solidFill>
              </a:rPr>
              <a:t>: Training-set exploratory plots were generated, and glucose and leukocytes were log-transformed.</a:t>
            </a:r>
          </a:p>
          <a:p>
            <a:pPr marL="171450" indent="-171450">
              <a:buFont typeface="Arial" panose="020B0604020202020204" pitchFamily="34" charset="0"/>
              <a:buChar char="•"/>
            </a:pPr>
            <a:endParaRPr lang="en-US" sz="1200" dirty="0">
              <a:solidFill>
                <a:schemeClr val="tx1"/>
              </a:solidFill>
            </a:endParaRPr>
          </a:p>
          <a:p>
            <a:pPr marL="457200" indent="-457200">
              <a:buFont typeface="Arial" panose="020B0604020202020204" pitchFamily="34" charset="0"/>
              <a:buChar char="•"/>
            </a:pPr>
            <a:r>
              <a:rPr lang="en-US" sz="3200" b="1" dirty="0">
                <a:solidFill>
                  <a:schemeClr val="tx1"/>
                </a:solidFill>
              </a:rPr>
              <a:t>Analysis</a:t>
            </a:r>
            <a:r>
              <a:rPr lang="en-US" sz="3200" dirty="0">
                <a:solidFill>
                  <a:schemeClr val="tx1"/>
                </a:solidFill>
              </a:rPr>
              <a:t>: Full and reduced logistic regression models were fit to identify significant predictors of postoperative hypoxemia, and test-set performance was assessed using misclassification error.</a:t>
            </a:r>
          </a:p>
        </p:txBody>
      </p:sp>
      <p:sp>
        <p:nvSpPr>
          <p:cNvPr id="15" name="Rectangle 14">
            <a:extLst>
              <a:ext uri="{FF2B5EF4-FFF2-40B4-BE49-F238E27FC236}">
                <a16:creationId xmlns:a16="http://schemas.microsoft.com/office/drawing/2014/main" id="{D9FAD4F5-52A9-A8DB-E983-3A4C1D8CFF2D}"/>
              </a:ext>
            </a:extLst>
          </p:cNvPr>
          <p:cNvSpPr/>
          <p:nvPr/>
        </p:nvSpPr>
        <p:spPr>
          <a:xfrm>
            <a:off x="32125920" y="3688080"/>
            <a:ext cx="117652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Conclusion &amp; Impact</a:t>
            </a:r>
          </a:p>
        </p:txBody>
      </p:sp>
      <p:sp>
        <p:nvSpPr>
          <p:cNvPr id="16" name="Rectangle 15">
            <a:extLst>
              <a:ext uri="{FF2B5EF4-FFF2-40B4-BE49-F238E27FC236}">
                <a16:creationId xmlns:a16="http://schemas.microsoft.com/office/drawing/2014/main" id="{39677B4E-44D9-251E-1F7F-7ACC118B2981}"/>
              </a:ext>
            </a:extLst>
          </p:cNvPr>
          <p:cNvSpPr/>
          <p:nvPr/>
        </p:nvSpPr>
        <p:spPr>
          <a:xfrm>
            <a:off x="32125920" y="5547359"/>
            <a:ext cx="11765280" cy="15912465"/>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3400" b="1" dirty="0">
                <a:solidFill>
                  <a:schemeClr val="tx1"/>
                </a:solidFill>
              </a:rPr>
              <a:t>Key Takeaway: Male patients with high BMI and high glucose may benefit from closer postoperative monitoring for early detection and timely intervention of hypoxemia.</a:t>
            </a:r>
          </a:p>
          <a:p>
            <a:endParaRPr lang="en-CA" sz="3400" b="1" dirty="0">
              <a:solidFill>
                <a:schemeClr val="tx1"/>
              </a:solidFill>
            </a:endParaRPr>
          </a:p>
          <a:p>
            <a:r>
              <a:rPr lang="en-CA" sz="3400" b="1" dirty="0">
                <a:solidFill>
                  <a:schemeClr val="tx1"/>
                </a:solidFill>
              </a:rPr>
              <a:t>Key Risk Factors</a:t>
            </a:r>
          </a:p>
          <a:p>
            <a:pPr marL="571500" indent="-571500">
              <a:buFont typeface="Arial" panose="020B0604020202020204" pitchFamily="34" charset="0"/>
              <a:buChar char="•"/>
            </a:pPr>
            <a:r>
              <a:rPr lang="en-CA" sz="3400" b="1" dirty="0">
                <a:solidFill>
                  <a:schemeClr val="tx1"/>
                </a:solidFill>
              </a:rPr>
              <a:t>Higher BMI </a:t>
            </a:r>
            <a:r>
              <a:rPr lang="en-CA" sz="3400" dirty="0">
                <a:solidFill>
                  <a:schemeClr val="tx1"/>
                </a:solidFill>
              </a:rPr>
              <a:t>elevates odds of </a:t>
            </a:r>
            <a:r>
              <a:rPr lang="en-US" sz="3400" dirty="0">
                <a:solidFill>
                  <a:schemeClr val="tx1"/>
                </a:solidFill>
              </a:rPr>
              <a:t>postoperative hypoxemia , </a:t>
            </a:r>
            <a:r>
              <a:rPr lang="en-CA" sz="3400" dirty="0">
                <a:solidFill>
                  <a:schemeClr val="tx1"/>
                </a:solidFill>
              </a:rPr>
              <a:t>aligning with established literature</a:t>
            </a:r>
            <a:r>
              <a:rPr lang="en-CA" sz="3400" baseline="30000" dirty="0">
                <a:solidFill>
                  <a:schemeClr val="tx1"/>
                </a:solidFill>
              </a:rPr>
              <a:t>4</a:t>
            </a:r>
          </a:p>
          <a:p>
            <a:pPr marL="571500" indent="-571500">
              <a:buFont typeface="Arial" panose="020B0604020202020204" pitchFamily="34" charset="0"/>
              <a:buChar char="•"/>
            </a:pPr>
            <a:r>
              <a:rPr lang="en-CA" sz="3400" b="1" dirty="0">
                <a:solidFill>
                  <a:schemeClr val="tx1"/>
                </a:solidFill>
              </a:rPr>
              <a:t>Higher glucose level </a:t>
            </a:r>
            <a:r>
              <a:rPr lang="en-CA" sz="3400" dirty="0">
                <a:solidFill>
                  <a:schemeClr val="tx1"/>
                </a:solidFill>
              </a:rPr>
              <a:t>were significantly associated with increased odds of hypoxemia</a:t>
            </a:r>
          </a:p>
          <a:p>
            <a:pPr marL="571500" indent="-571500">
              <a:buFont typeface="Arial" panose="020B0604020202020204" pitchFamily="34" charset="0"/>
              <a:buChar char="•"/>
            </a:pPr>
            <a:r>
              <a:rPr lang="en-CA" sz="3400" b="1" dirty="0">
                <a:solidFill>
                  <a:schemeClr val="tx1"/>
                </a:solidFill>
              </a:rPr>
              <a:t>Male</a:t>
            </a:r>
            <a:r>
              <a:rPr lang="en-CA" sz="3400" dirty="0">
                <a:solidFill>
                  <a:schemeClr val="tx1"/>
                </a:solidFill>
              </a:rPr>
              <a:t> patients have higher odds of hypoxemia, which contradicts previous findings that showed being female as a risk factor</a:t>
            </a:r>
            <a:r>
              <a:rPr lang="en-CA" sz="3400" baseline="30000" dirty="0">
                <a:solidFill>
                  <a:schemeClr val="tx1"/>
                </a:solidFill>
              </a:rPr>
              <a:t>4</a:t>
            </a:r>
          </a:p>
          <a:p>
            <a:endParaRPr lang="en-CA" sz="3400" baseline="30000" dirty="0">
              <a:solidFill>
                <a:schemeClr val="tx1"/>
              </a:solidFill>
            </a:endParaRPr>
          </a:p>
          <a:p>
            <a:r>
              <a:rPr lang="en-CA" sz="3400" b="1" dirty="0">
                <a:solidFill>
                  <a:schemeClr val="tx1"/>
                </a:solidFill>
              </a:rPr>
              <a:t>Model Performance and Limitation</a:t>
            </a:r>
          </a:p>
          <a:p>
            <a:pPr marL="571500" indent="-571500">
              <a:buFont typeface="Arial" panose="020B0604020202020204" pitchFamily="34" charset="0"/>
              <a:buChar char="•"/>
            </a:pPr>
            <a:r>
              <a:rPr lang="en-CA" sz="3400" dirty="0">
                <a:solidFill>
                  <a:schemeClr val="tx1"/>
                </a:solidFill>
              </a:rPr>
              <a:t>The full model achieved a lower test misclassification rate (37%) than the reduced model (43%), suggesting that including a broader set of lab test results is necessary to capture the complexity of hypoxemia</a:t>
            </a:r>
          </a:p>
          <a:p>
            <a:pPr marL="571500" indent="-571500">
              <a:buFont typeface="Arial" panose="020B0604020202020204" pitchFamily="34" charset="0"/>
              <a:buChar char="•"/>
            </a:pPr>
            <a:r>
              <a:rPr lang="en-CA" sz="3400" dirty="0">
                <a:solidFill>
                  <a:schemeClr val="tx1"/>
                </a:solidFill>
              </a:rPr>
              <a:t>Only </a:t>
            </a:r>
            <a:r>
              <a:rPr lang="en-CA" sz="3400" dirty="0">
                <a:solidFill>
                  <a:schemeClr val="tx1"/>
                </a:solidFill>
                <a:highlight>
                  <a:srgbClr val="FFFF00"/>
                </a:highlight>
              </a:rPr>
              <a:t>[percentage]% </a:t>
            </a:r>
            <a:r>
              <a:rPr lang="en-CA" sz="3400" dirty="0">
                <a:solidFill>
                  <a:schemeClr val="tx1"/>
                </a:solidFill>
              </a:rPr>
              <a:t>of patients reported postoperative hypoxemia, likely contributing to the relatively high misclassification rate</a:t>
            </a:r>
          </a:p>
          <a:p>
            <a:endParaRPr lang="en-CA" sz="3400" dirty="0">
              <a:solidFill>
                <a:schemeClr val="tx1"/>
              </a:solidFill>
            </a:endParaRPr>
          </a:p>
          <a:p>
            <a:r>
              <a:rPr lang="en-CA" sz="3400" b="1" dirty="0">
                <a:solidFill>
                  <a:schemeClr val="tx1"/>
                </a:solidFill>
              </a:rPr>
              <a:t>Future Directions</a:t>
            </a:r>
          </a:p>
          <a:p>
            <a:pPr marL="571500" indent="-571500">
              <a:buFont typeface="Arial" panose="020B0604020202020204" pitchFamily="34" charset="0"/>
              <a:buChar char="•"/>
            </a:pPr>
            <a:r>
              <a:rPr lang="en-CA" sz="3400" dirty="0">
                <a:solidFill>
                  <a:schemeClr val="tx1"/>
                </a:solidFill>
              </a:rPr>
              <a:t>Employing</a:t>
            </a:r>
            <a:r>
              <a:rPr lang="en-CA" sz="3400" b="1" dirty="0">
                <a:solidFill>
                  <a:schemeClr val="tx1"/>
                </a:solidFill>
              </a:rPr>
              <a:t> </a:t>
            </a:r>
            <a:r>
              <a:rPr lang="en-CA" sz="3400" dirty="0">
                <a:solidFill>
                  <a:schemeClr val="tx1"/>
                </a:solidFill>
              </a:rPr>
              <a:t>oversampling or re-weighting techniques to better account for imbalance and improve predictive accuracy</a:t>
            </a:r>
            <a:r>
              <a:rPr lang="en-CA" sz="3400" dirty="0"/>
              <a:t>.</a:t>
            </a:r>
            <a:endParaRPr lang="en-CA" sz="3400" dirty="0">
              <a:solidFill>
                <a:schemeClr val="tx1"/>
              </a:solidFill>
            </a:endParaRPr>
          </a:p>
          <a:p>
            <a:pPr marL="571500" indent="-571500">
              <a:buFont typeface="Arial" panose="020B0604020202020204" pitchFamily="34" charset="0"/>
              <a:buChar char="•"/>
            </a:pPr>
            <a:r>
              <a:rPr lang="en-CA" sz="3400" dirty="0">
                <a:solidFill>
                  <a:schemeClr val="tx1"/>
                </a:solidFill>
              </a:rPr>
              <a:t>Incorporating a wider variety of laboratory tests to strengthen predictive power</a:t>
            </a:r>
          </a:p>
          <a:p>
            <a:pPr marL="571500" indent="-571500">
              <a:buFont typeface="Arial" panose="020B0604020202020204" pitchFamily="34" charset="0"/>
              <a:buChar char="•"/>
            </a:pPr>
            <a:r>
              <a:rPr lang="en-CA" sz="3400" dirty="0">
                <a:solidFill>
                  <a:schemeClr val="tx1"/>
                </a:solidFill>
              </a:rPr>
              <a:t>Exploring how hypoxemia interacts with other concurrent postoperative complications</a:t>
            </a:r>
          </a:p>
        </p:txBody>
      </p:sp>
      <p:sp>
        <p:nvSpPr>
          <p:cNvPr id="17" name="Rectangle 16">
            <a:extLst>
              <a:ext uri="{FF2B5EF4-FFF2-40B4-BE49-F238E27FC236}">
                <a16:creationId xmlns:a16="http://schemas.microsoft.com/office/drawing/2014/main" id="{A941BB6B-7EBA-AF97-A4F1-CB57ED2D8F55}"/>
              </a:ext>
            </a:extLst>
          </p:cNvPr>
          <p:cNvSpPr/>
          <p:nvPr/>
        </p:nvSpPr>
        <p:spPr>
          <a:xfrm>
            <a:off x="12405360" y="17434560"/>
            <a:ext cx="190804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Key Findings</a:t>
            </a:r>
          </a:p>
        </p:txBody>
      </p:sp>
      <p:sp>
        <p:nvSpPr>
          <p:cNvPr id="18" name="Rectangle 17">
            <a:extLst>
              <a:ext uri="{FF2B5EF4-FFF2-40B4-BE49-F238E27FC236}">
                <a16:creationId xmlns:a16="http://schemas.microsoft.com/office/drawing/2014/main" id="{A3CD819F-3B58-55F3-1C22-E3F69CBAC29C}"/>
              </a:ext>
            </a:extLst>
          </p:cNvPr>
          <p:cNvSpPr/>
          <p:nvPr/>
        </p:nvSpPr>
        <p:spPr>
          <a:xfrm>
            <a:off x="12405360" y="19293840"/>
            <a:ext cx="19080480" cy="1313688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b="1" dirty="0">
              <a:solidFill>
                <a:schemeClr val="bg1"/>
              </a:solidFill>
            </a:endParaRPr>
          </a:p>
        </p:txBody>
      </p:sp>
      <p:sp>
        <p:nvSpPr>
          <p:cNvPr id="19" name="Rectangle 18">
            <a:extLst>
              <a:ext uri="{FF2B5EF4-FFF2-40B4-BE49-F238E27FC236}">
                <a16:creationId xmlns:a16="http://schemas.microsoft.com/office/drawing/2014/main" id="{116BE30C-7D6B-27BE-E74A-10047729CE16}"/>
              </a:ext>
            </a:extLst>
          </p:cNvPr>
          <p:cNvSpPr/>
          <p:nvPr/>
        </p:nvSpPr>
        <p:spPr>
          <a:xfrm>
            <a:off x="32125920" y="22035436"/>
            <a:ext cx="117652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References</a:t>
            </a:r>
          </a:p>
        </p:txBody>
      </p:sp>
      <p:sp>
        <p:nvSpPr>
          <p:cNvPr id="20" name="Rectangle 19">
            <a:extLst>
              <a:ext uri="{FF2B5EF4-FFF2-40B4-BE49-F238E27FC236}">
                <a16:creationId xmlns:a16="http://schemas.microsoft.com/office/drawing/2014/main" id="{E17746A4-1863-F94B-A173-6096FEA33C6E}"/>
              </a:ext>
            </a:extLst>
          </p:cNvPr>
          <p:cNvSpPr/>
          <p:nvPr/>
        </p:nvSpPr>
        <p:spPr>
          <a:xfrm>
            <a:off x="32125920" y="23894716"/>
            <a:ext cx="11765280" cy="8536004"/>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aseline="30000" dirty="0">
                <a:solidFill>
                  <a:schemeClr val="tx1"/>
                </a:solidFill>
              </a:rPr>
              <a:t>1</a:t>
            </a:r>
            <a:r>
              <a:rPr lang="en-US" sz="2400" dirty="0">
                <a:solidFill>
                  <a:schemeClr val="tx1"/>
                </a:solidFill>
              </a:rPr>
              <a:t> Yosef Belay Bizuneh, Mulualem Endeshaw Zeleke, Ashebir Mamay Gebru, Destaw Fetene Teshome, Fantahun Ayenew Mekonnen, Dessie Abebaw Angaw, and Amare Belete Getahun. 2025. Global prevalence of postoperative hypoxemia among adult and pediatric surgical patients: a systematic review and meta-analysis. </a:t>
            </a:r>
            <a:r>
              <a:rPr lang="en-US" sz="2400" i="1" dirty="0">
                <a:solidFill>
                  <a:schemeClr val="tx1"/>
                </a:solidFill>
              </a:rPr>
              <a:t>BMC Anesthesiology</a:t>
            </a:r>
            <a:r>
              <a:rPr lang="en-US" sz="2400" dirty="0">
                <a:solidFill>
                  <a:schemeClr val="tx1"/>
                </a:solidFill>
              </a:rPr>
              <a:t> 25, Article 284 (June 2025), 10 pages. doi:10.1186/s12871-025-03146-3</a:t>
            </a:r>
          </a:p>
          <a:p>
            <a:r>
              <a:rPr lang="en-US" sz="2400" baseline="30000" dirty="0">
                <a:solidFill>
                  <a:schemeClr val="tx1"/>
                </a:solidFill>
              </a:rPr>
              <a:t>2</a:t>
            </a:r>
            <a:r>
              <a:rPr lang="en-US" sz="2400" dirty="0">
                <a:solidFill>
                  <a:schemeClr val="tx1"/>
                </a:solidFill>
              </a:rPr>
              <a:t> Muntaha Samad, Mirana Angel, Joseph Rinehart, Yuzo Kanomata, Pierre Baldi, and Maxime Cannesson. 2023. Medical Informatics Operating Room Vitals and Events Repository (MOVER): a public-access operating room database. </a:t>
            </a:r>
            <a:r>
              <a:rPr lang="en-US" sz="2400" i="1" dirty="0">
                <a:solidFill>
                  <a:schemeClr val="tx1"/>
                </a:solidFill>
              </a:rPr>
              <a:t>JAMIA Open</a:t>
            </a:r>
            <a:r>
              <a:rPr lang="en-US" sz="2400" dirty="0">
                <a:solidFill>
                  <a:schemeClr val="tx1"/>
                </a:solidFill>
              </a:rPr>
              <a:t> 6, 4, Article ooad084 (Oct. 2023), 8 pages. doi:10.1093/jamiaopen/ooad084</a:t>
            </a:r>
          </a:p>
          <a:p>
            <a:r>
              <a:rPr lang="en-US" sz="2400" baseline="30000" dirty="0">
                <a:solidFill>
                  <a:schemeClr val="tx1"/>
                </a:solidFill>
              </a:rPr>
              <a:t>3</a:t>
            </a:r>
            <a:r>
              <a:rPr lang="en-US" sz="2400" dirty="0">
                <a:solidFill>
                  <a:schemeClr val="tx1"/>
                </a:solidFill>
              </a:rPr>
              <a:t> Huiqing Ge, Ye Jiang, Qijun Jin, Linjun Wan, Ximing Qian, and Zhongheng Zhang. 2018. Nomogram for the prediction of postoperative hypoxemia in patients with acute aortic dissection. </a:t>
            </a:r>
            <a:r>
              <a:rPr lang="en-US" sz="2400" i="1" dirty="0">
                <a:solidFill>
                  <a:schemeClr val="tx1"/>
                </a:solidFill>
              </a:rPr>
              <a:t>BMC Anesthesiology</a:t>
            </a:r>
            <a:r>
              <a:rPr lang="en-US" sz="2400" dirty="0">
                <a:solidFill>
                  <a:schemeClr val="tx1"/>
                </a:solidFill>
              </a:rPr>
              <a:t> 18, Article 146 (Oct. 2018), 9 pages. doi:10.1186/s12871-018-0612-7</a:t>
            </a:r>
          </a:p>
          <a:p>
            <a:r>
              <a:rPr lang="en-US" sz="2400" baseline="30000" dirty="0">
                <a:solidFill>
                  <a:schemeClr val="tx1"/>
                </a:solidFill>
              </a:rPr>
              <a:t>4</a:t>
            </a:r>
            <a:r>
              <a:rPr lang="en-US" sz="2400" dirty="0">
                <a:solidFill>
                  <a:schemeClr val="tx1"/>
                </a:solidFill>
              </a:rPr>
              <a:t> Ming Gong, Zining Wu, Shijun Xu, Lei Li, Xiaolong Wang, Xinliang Guan, and Hongjia Zhang. 2019. Increased risk for the development of postoperative severe hypoxemia in obese women with acute type a aortic dissection. </a:t>
            </a:r>
            <a:r>
              <a:rPr lang="en-US" sz="2400" i="1" dirty="0">
                <a:solidFill>
                  <a:schemeClr val="tx1"/>
                </a:solidFill>
              </a:rPr>
              <a:t>Journal of Cardiothoracic Surgery</a:t>
            </a:r>
            <a:r>
              <a:rPr lang="en-US" sz="2400" dirty="0">
                <a:solidFill>
                  <a:schemeClr val="tx1"/>
                </a:solidFill>
              </a:rPr>
              <a:t> 14, Article 81 (April 2019), 9 pages. doi:10.1186/s13019-019-0888-9</a:t>
            </a:r>
          </a:p>
          <a:p>
            <a:r>
              <a:rPr lang="en-US" sz="2400" baseline="30000" dirty="0">
                <a:solidFill>
                  <a:schemeClr val="tx1"/>
                </a:solidFill>
              </a:rPr>
              <a:t>5</a:t>
            </a:r>
            <a:r>
              <a:rPr lang="en-US" sz="2400" dirty="0">
                <a:solidFill>
                  <a:schemeClr val="tx1"/>
                </a:solidFill>
              </a:rPr>
              <a:t> Debas Yaregal Melesse, Zewditu Abdissa Denu, Habtamu Getinet Kassahun, and Abatneh Feleke Agegnehu. 2020. The incidence of early post-operative hypoxemia and its contributing factors among patients underwent operation under anesthesia at University of Gondar comprehensive and specialized referral hospital, Gondar, North West Ethiopia, 2018. A prospective observational study. </a:t>
            </a:r>
            <a:r>
              <a:rPr lang="en-US" sz="2400" i="1" dirty="0">
                <a:solidFill>
                  <a:schemeClr val="tx1"/>
                </a:solidFill>
              </a:rPr>
              <a:t>International Journal of Surgery Open</a:t>
            </a:r>
            <a:r>
              <a:rPr lang="en-US" sz="2400" dirty="0">
                <a:solidFill>
                  <a:schemeClr val="tx1"/>
                </a:solidFill>
              </a:rPr>
              <a:t> 22 (2020), 38–46. doi:10.1016/j.ijso.2019.11.011</a:t>
            </a:r>
          </a:p>
        </p:txBody>
      </p:sp>
    </p:spTree>
    <p:extLst>
      <p:ext uri="{BB962C8B-B14F-4D97-AF65-F5344CB8AC3E}">
        <p14:creationId xmlns:p14="http://schemas.microsoft.com/office/powerpoint/2010/main" val="41013066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237</TotalTime>
  <Words>921</Words>
  <Application>Microsoft Macintosh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Benny Rochwerg</dc:creator>
  <cp:lastModifiedBy>leiyang1@student.ubc.ca</cp:lastModifiedBy>
  <cp:revision>129</cp:revision>
  <dcterms:created xsi:type="dcterms:W3CDTF">2026-04-04T03:02:54Z</dcterms:created>
  <dcterms:modified xsi:type="dcterms:W3CDTF">2026-04-07T22:10:08Z</dcterms:modified>
</cp:coreProperties>
</file>